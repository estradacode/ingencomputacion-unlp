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Century Gothic"/>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1" roundtripDataSignature="AMtx7mimKRDcPThJM7BzfZ558xp0ewey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enturyGothic-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CenturyGothic-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CenturyGothic-italic.fntdata"/><Relationship Id="rId6" Type="http://schemas.openxmlformats.org/officeDocument/2006/relationships/slide" Target="slides/slide1.xml"/><Relationship Id="rId18" Type="http://schemas.openxmlformats.org/officeDocument/2006/relationships/font" Target="fonts/CenturyGothic-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42" name="Shape 42"/>
        <p:cNvGrpSpPr/>
        <p:nvPr/>
      </p:nvGrpSpPr>
      <p:grpSpPr>
        <a:xfrm>
          <a:off x="0" y="0"/>
          <a:ext cx="0" cy="0"/>
          <a:chOff x="0" y="0"/>
          <a:chExt cx="0" cy="0"/>
        </a:xfrm>
      </p:grpSpPr>
      <p:sp>
        <p:nvSpPr>
          <p:cNvPr id="43" name="Google Shape;43;p13"/>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3"/>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5" name="Google Shape;45;p1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3"/>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3"/>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9" name="Shape 49"/>
        <p:cNvGrpSpPr/>
        <p:nvPr/>
      </p:nvGrpSpPr>
      <p:grpSpPr>
        <a:xfrm>
          <a:off x="0" y="0"/>
          <a:ext cx="0" cy="0"/>
          <a:chOff x="0" y="0"/>
          <a:chExt cx="0" cy="0"/>
        </a:xfrm>
      </p:grpSpPr>
      <p:sp>
        <p:nvSpPr>
          <p:cNvPr id="50" name="Google Shape;50;p1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4"/>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52" name="Google Shape;52;p1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56" name="Shape 56"/>
        <p:cNvGrpSpPr/>
        <p:nvPr/>
      </p:nvGrpSpPr>
      <p:grpSpPr>
        <a:xfrm>
          <a:off x="0" y="0"/>
          <a:ext cx="0" cy="0"/>
          <a:chOff x="0" y="0"/>
          <a:chExt cx="0" cy="0"/>
        </a:xfrm>
      </p:grpSpPr>
      <p:sp>
        <p:nvSpPr>
          <p:cNvPr id="57" name="Google Shape;57;p15"/>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5"/>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9" name="Google Shape;59;p1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5"/>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63" name="Shape 63"/>
        <p:cNvGrpSpPr/>
        <p:nvPr/>
      </p:nvGrpSpPr>
      <p:grpSpPr>
        <a:xfrm>
          <a:off x="0" y="0"/>
          <a:ext cx="0" cy="0"/>
          <a:chOff x="0" y="0"/>
          <a:chExt cx="0" cy="0"/>
        </a:xfrm>
      </p:grpSpPr>
      <p:sp>
        <p:nvSpPr>
          <p:cNvPr id="64" name="Google Shape;64;p1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6"/>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6" name="Google Shape;66;p16"/>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7" name="Google Shape;67;p1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71" name="Shape 71"/>
        <p:cNvGrpSpPr/>
        <p:nvPr/>
      </p:nvGrpSpPr>
      <p:grpSpPr>
        <a:xfrm>
          <a:off x="0" y="0"/>
          <a:ext cx="0" cy="0"/>
          <a:chOff x="0" y="0"/>
          <a:chExt cx="0" cy="0"/>
        </a:xfrm>
      </p:grpSpPr>
      <p:sp>
        <p:nvSpPr>
          <p:cNvPr id="72" name="Google Shape;72;p17"/>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7"/>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4" name="Google Shape;74;p17"/>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5" name="Google Shape;75;p17"/>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6" name="Google Shape;76;p17"/>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7" name="Google Shape;77;p1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81" name="Shape 81"/>
        <p:cNvGrpSpPr/>
        <p:nvPr/>
      </p:nvGrpSpPr>
      <p:grpSpPr>
        <a:xfrm>
          <a:off x="0" y="0"/>
          <a:ext cx="0" cy="0"/>
          <a:chOff x="0" y="0"/>
          <a:chExt cx="0" cy="0"/>
        </a:xfrm>
      </p:grpSpPr>
      <p:sp>
        <p:nvSpPr>
          <p:cNvPr id="82" name="Google Shape;82;p18"/>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87" name="Shape 87"/>
        <p:cNvGrpSpPr/>
        <p:nvPr/>
      </p:nvGrpSpPr>
      <p:grpSpPr>
        <a:xfrm>
          <a:off x="0" y="0"/>
          <a:ext cx="0" cy="0"/>
          <a:chOff x="0" y="0"/>
          <a:chExt cx="0" cy="0"/>
        </a:xfrm>
      </p:grpSpPr>
      <p:sp>
        <p:nvSpPr>
          <p:cNvPr id="88" name="Google Shape;88;p1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9"/>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92" name="Shape 92"/>
        <p:cNvGrpSpPr/>
        <p:nvPr/>
      </p:nvGrpSpPr>
      <p:grpSpPr>
        <a:xfrm>
          <a:off x="0" y="0"/>
          <a:ext cx="0" cy="0"/>
          <a:chOff x="0" y="0"/>
          <a:chExt cx="0" cy="0"/>
        </a:xfrm>
      </p:grpSpPr>
      <p:sp>
        <p:nvSpPr>
          <p:cNvPr id="93" name="Google Shape;93;p20"/>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0"/>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5" name="Google Shape;95;p20"/>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6" name="Google Shape;96;p2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00" name="Shape 100"/>
        <p:cNvGrpSpPr/>
        <p:nvPr/>
      </p:nvGrpSpPr>
      <p:grpSpPr>
        <a:xfrm>
          <a:off x="0" y="0"/>
          <a:ext cx="0" cy="0"/>
          <a:chOff x="0" y="0"/>
          <a:chExt cx="0" cy="0"/>
        </a:xfrm>
      </p:grpSpPr>
      <p:sp>
        <p:nvSpPr>
          <p:cNvPr id="101" name="Google Shape;101;p21"/>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1"/>
          <p:cNvSpPr/>
          <p:nvPr>
            <p:ph idx="2" type="pic"/>
          </p:nvPr>
        </p:nvSpPr>
        <p:spPr>
          <a:xfrm>
            <a:off x="2589212" y="634965"/>
            <a:ext cx="8915400" cy="3854970"/>
          </a:xfrm>
          <a:prstGeom prst="rect">
            <a:avLst/>
          </a:prstGeom>
          <a:noFill/>
          <a:ln>
            <a:noFill/>
          </a:ln>
        </p:spPr>
        <p:txBody>
          <a:bodyPr anchorCtr="0" anchor="t" bIns="45700" lIns="91425" spcFirstLastPara="1" rIns="91425" wrap="square" tIns="45700">
            <a:normAutofit/>
          </a:bodyPr>
          <a:lstStyle>
            <a:lvl1pPr lvl="0" marR="0" rtl="0" algn="ctr">
              <a:spcBef>
                <a:spcPts val="1000"/>
              </a:spcBef>
              <a:spcAft>
                <a:spcPts val="0"/>
              </a:spcAft>
              <a:buClr>
                <a:schemeClr val="accent1"/>
              </a:buClr>
              <a:buSzPts val="1600"/>
              <a:buFont typeface="Noto Sans Symbols"/>
              <a:buNone/>
              <a:defRPr b="0" i="0" sz="1600" u="none" cap="none" strike="noStrike">
                <a:solidFill>
                  <a:srgbClr val="3F3F3F"/>
                </a:solidFill>
                <a:latin typeface="Century Gothic"/>
                <a:ea typeface="Century Gothic"/>
                <a:cs typeface="Century Gothic"/>
                <a:sym typeface="Century Gothic"/>
              </a:defRPr>
            </a:lvl1pPr>
            <a:lvl2pPr lvl="1" marR="0" rtl="0" algn="l">
              <a:spcBef>
                <a:spcPts val="1000"/>
              </a:spcBef>
              <a:spcAft>
                <a:spcPts val="0"/>
              </a:spcAft>
              <a:buClr>
                <a:schemeClr val="accent1"/>
              </a:buClr>
              <a:buSzPts val="1600"/>
              <a:buFont typeface="Noto Sans Symbols"/>
              <a:buNone/>
              <a:defRPr b="0" i="0" sz="1600" u="none" cap="none" strike="noStrike">
                <a:solidFill>
                  <a:srgbClr val="3F3F3F"/>
                </a:solidFill>
                <a:latin typeface="Century Gothic"/>
                <a:ea typeface="Century Gothic"/>
                <a:cs typeface="Century Gothic"/>
                <a:sym typeface="Century Gothic"/>
              </a:defRPr>
            </a:lvl2pPr>
            <a:lvl3pPr lvl="2" marR="0" rtl="0" algn="l">
              <a:spcBef>
                <a:spcPts val="1000"/>
              </a:spcBef>
              <a:spcAft>
                <a:spcPts val="0"/>
              </a:spcAft>
              <a:buClr>
                <a:schemeClr val="accent1"/>
              </a:buClr>
              <a:buSzPts val="1600"/>
              <a:buFont typeface="Noto Sans Symbols"/>
              <a:buNone/>
              <a:defRPr b="0" i="0" sz="1600" u="none" cap="none" strike="noStrike">
                <a:solidFill>
                  <a:srgbClr val="3F3F3F"/>
                </a:solidFill>
                <a:latin typeface="Century Gothic"/>
                <a:ea typeface="Century Gothic"/>
                <a:cs typeface="Century Gothic"/>
                <a:sym typeface="Century Gothic"/>
              </a:defRPr>
            </a:lvl3pPr>
            <a:lvl4pPr lvl="3" marR="0" rtl="0" algn="l">
              <a:spcBef>
                <a:spcPts val="1000"/>
              </a:spcBef>
              <a:spcAft>
                <a:spcPts val="0"/>
              </a:spcAft>
              <a:buClr>
                <a:schemeClr val="accent1"/>
              </a:buClr>
              <a:buSzPts val="1600"/>
              <a:buFont typeface="Noto Sans Symbols"/>
              <a:buNone/>
              <a:defRPr b="0" i="0" sz="1600" u="none" cap="none" strike="noStrike">
                <a:solidFill>
                  <a:srgbClr val="3F3F3F"/>
                </a:solidFill>
                <a:latin typeface="Century Gothic"/>
                <a:ea typeface="Century Gothic"/>
                <a:cs typeface="Century Gothic"/>
                <a:sym typeface="Century Gothic"/>
              </a:defRPr>
            </a:lvl4pPr>
            <a:lvl5pPr lvl="4" marR="0" rtl="0" algn="l">
              <a:spcBef>
                <a:spcPts val="1000"/>
              </a:spcBef>
              <a:spcAft>
                <a:spcPts val="0"/>
              </a:spcAft>
              <a:buClr>
                <a:schemeClr val="accent1"/>
              </a:buClr>
              <a:buSzPts val="1600"/>
              <a:buFont typeface="Noto Sans Symbols"/>
              <a:buNone/>
              <a:defRPr b="0" i="0" sz="1600" u="none" cap="none" strike="noStrike">
                <a:solidFill>
                  <a:srgbClr val="3F3F3F"/>
                </a:solidFill>
                <a:latin typeface="Century Gothic"/>
                <a:ea typeface="Century Gothic"/>
                <a:cs typeface="Century Gothic"/>
                <a:sym typeface="Century Gothic"/>
              </a:defRPr>
            </a:lvl5pPr>
            <a:lvl6pPr lvl="5" marR="0" rtl="0" algn="l">
              <a:spcBef>
                <a:spcPts val="1000"/>
              </a:spcBef>
              <a:spcAft>
                <a:spcPts val="0"/>
              </a:spcAft>
              <a:buClr>
                <a:schemeClr val="accent1"/>
              </a:buClr>
              <a:buSzPts val="1600"/>
              <a:buFont typeface="Noto Sans Symbols"/>
              <a:buNone/>
              <a:defRPr b="0" i="0" sz="1600" u="none" cap="none" strike="noStrike">
                <a:solidFill>
                  <a:srgbClr val="3F3F3F"/>
                </a:solidFill>
                <a:latin typeface="Century Gothic"/>
                <a:ea typeface="Century Gothic"/>
                <a:cs typeface="Century Gothic"/>
                <a:sym typeface="Century Gothic"/>
              </a:defRPr>
            </a:lvl6pPr>
            <a:lvl7pPr lvl="6" marR="0" rtl="0" algn="l">
              <a:spcBef>
                <a:spcPts val="1000"/>
              </a:spcBef>
              <a:spcAft>
                <a:spcPts val="0"/>
              </a:spcAft>
              <a:buClr>
                <a:schemeClr val="accent1"/>
              </a:buClr>
              <a:buSzPts val="1600"/>
              <a:buFont typeface="Noto Sans Symbols"/>
              <a:buNone/>
              <a:defRPr b="0" i="0" sz="1600" u="none" cap="none" strike="noStrike">
                <a:solidFill>
                  <a:srgbClr val="3F3F3F"/>
                </a:solidFill>
                <a:latin typeface="Century Gothic"/>
                <a:ea typeface="Century Gothic"/>
                <a:cs typeface="Century Gothic"/>
                <a:sym typeface="Century Gothic"/>
              </a:defRPr>
            </a:lvl7pPr>
            <a:lvl8pPr lvl="7" marR="0" rtl="0" algn="l">
              <a:spcBef>
                <a:spcPts val="1000"/>
              </a:spcBef>
              <a:spcAft>
                <a:spcPts val="0"/>
              </a:spcAft>
              <a:buClr>
                <a:schemeClr val="accent1"/>
              </a:buClr>
              <a:buSzPts val="1600"/>
              <a:buFont typeface="Noto Sans Symbols"/>
              <a:buNone/>
              <a:defRPr b="0" i="0" sz="1600" u="none" cap="none" strike="noStrike">
                <a:solidFill>
                  <a:srgbClr val="3F3F3F"/>
                </a:solidFill>
                <a:latin typeface="Century Gothic"/>
                <a:ea typeface="Century Gothic"/>
                <a:cs typeface="Century Gothic"/>
                <a:sym typeface="Century Gothic"/>
              </a:defRPr>
            </a:lvl8pPr>
            <a:lvl9pPr lvl="8" marR="0" rtl="0" algn="l">
              <a:spcBef>
                <a:spcPts val="1000"/>
              </a:spcBef>
              <a:spcAft>
                <a:spcPts val="0"/>
              </a:spcAft>
              <a:buClr>
                <a:schemeClr val="accent1"/>
              </a:buClr>
              <a:buSzPts val="1600"/>
              <a:buFont typeface="Noto Sans Symbols"/>
              <a:buNone/>
              <a:defRPr b="0" i="0" sz="1600" u="none" cap="none" strike="noStrike">
                <a:solidFill>
                  <a:srgbClr val="3F3F3F"/>
                </a:solidFill>
                <a:latin typeface="Century Gothic"/>
                <a:ea typeface="Century Gothic"/>
                <a:cs typeface="Century Gothic"/>
                <a:sym typeface="Century Gothic"/>
              </a:defRPr>
            </a:lvl9pPr>
          </a:lstStyle>
          <a:p/>
        </p:txBody>
      </p:sp>
      <p:sp>
        <p:nvSpPr>
          <p:cNvPr id="103" name="Google Shape;103;p21"/>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4" name="Google Shape;104;p2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1"/>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1"/>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108" name="Shape 108"/>
        <p:cNvGrpSpPr/>
        <p:nvPr/>
      </p:nvGrpSpPr>
      <p:grpSpPr>
        <a:xfrm>
          <a:off x="0" y="0"/>
          <a:ext cx="0" cy="0"/>
          <a:chOff x="0" y="0"/>
          <a:chExt cx="0" cy="0"/>
        </a:xfrm>
      </p:grpSpPr>
      <p:sp>
        <p:nvSpPr>
          <p:cNvPr id="109" name="Google Shape;109;p22"/>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2"/>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1" name="Google Shape;111;p2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2"/>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2"/>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115" name="Shape 115"/>
        <p:cNvGrpSpPr/>
        <p:nvPr/>
      </p:nvGrpSpPr>
      <p:grpSpPr>
        <a:xfrm>
          <a:off x="0" y="0"/>
          <a:ext cx="0" cy="0"/>
          <a:chOff x="0" y="0"/>
          <a:chExt cx="0" cy="0"/>
        </a:xfrm>
      </p:grpSpPr>
      <p:sp>
        <p:nvSpPr>
          <p:cNvPr id="116" name="Google Shape;116;p23"/>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8" name="Google Shape;118;p23"/>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9" name="Google Shape;119;p2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3"/>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3"/>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
        <p:nvSpPr>
          <p:cNvPr id="123" name="Google Shape;123;p23"/>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s-AR" sz="8000" u="none" cap="none" strike="noStrike">
                <a:solidFill>
                  <a:schemeClr val="accent1"/>
                </a:solidFill>
                <a:latin typeface="Arial"/>
                <a:ea typeface="Arial"/>
                <a:cs typeface="Arial"/>
                <a:sym typeface="Arial"/>
              </a:rPr>
              <a:t>“</a:t>
            </a:r>
            <a:endParaRPr/>
          </a:p>
        </p:txBody>
      </p:sp>
      <p:sp>
        <p:nvSpPr>
          <p:cNvPr id="124" name="Google Shape;124;p23"/>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s-AR"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25" name="Shape 125"/>
        <p:cNvGrpSpPr/>
        <p:nvPr/>
      </p:nvGrpSpPr>
      <p:grpSpPr>
        <a:xfrm>
          <a:off x="0" y="0"/>
          <a:ext cx="0" cy="0"/>
          <a:chOff x="0" y="0"/>
          <a:chExt cx="0" cy="0"/>
        </a:xfrm>
      </p:grpSpPr>
      <p:sp>
        <p:nvSpPr>
          <p:cNvPr id="126" name="Google Shape;126;p24"/>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4"/>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8" name="Google Shape;128;p2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4"/>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4"/>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la tarjeta de nombre">
  <p:cSld name="Citar la tarjeta de nombre">
    <p:spTree>
      <p:nvGrpSpPr>
        <p:cNvPr id="132" name="Shape 132"/>
        <p:cNvGrpSpPr/>
        <p:nvPr/>
      </p:nvGrpSpPr>
      <p:grpSpPr>
        <a:xfrm>
          <a:off x="0" y="0"/>
          <a:ext cx="0" cy="0"/>
          <a:chOff x="0" y="0"/>
          <a:chExt cx="0" cy="0"/>
        </a:xfrm>
      </p:grpSpPr>
      <p:sp>
        <p:nvSpPr>
          <p:cNvPr id="133" name="Google Shape;133;p25"/>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5"/>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5" name="Google Shape;135;p25"/>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6" name="Google Shape;136;p2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5"/>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5"/>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
        <p:nvSpPr>
          <p:cNvPr id="140" name="Google Shape;140;p25"/>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s-AR" sz="8000" u="none" cap="none" strike="noStrike">
                <a:solidFill>
                  <a:schemeClr val="accent1"/>
                </a:solidFill>
                <a:latin typeface="Arial"/>
                <a:ea typeface="Arial"/>
                <a:cs typeface="Arial"/>
                <a:sym typeface="Arial"/>
              </a:rPr>
              <a:t>“</a:t>
            </a:r>
            <a:endParaRPr/>
          </a:p>
        </p:txBody>
      </p:sp>
      <p:sp>
        <p:nvSpPr>
          <p:cNvPr id="141" name="Google Shape;141;p25"/>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s-AR"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ro o falso">
  <p:cSld name="Verdadero o falso">
    <p:spTree>
      <p:nvGrpSpPr>
        <p:cNvPr id="142" name="Shape 142"/>
        <p:cNvGrpSpPr/>
        <p:nvPr/>
      </p:nvGrpSpPr>
      <p:grpSpPr>
        <a:xfrm>
          <a:off x="0" y="0"/>
          <a:ext cx="0" cy="0"/>
          <a:chOff x="0" y="0"/>
          <a:chExt cx="0" cy="0"/>
        </a:xfrm>
      </p:grpSpPr>
      <p:sp>
        <p:nvSpPr>
          <p:cNvPr id="143" name="Google Shape;143;p26"/>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6"/>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5" name="Google Shape;145;p26"/>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6" name="Google Shape;146;p2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6"/>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6"/>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50" name="Shape 150"/>
        <p:cNvGrpSpPr/>
        <p:nvPr/>
      </p:nvGrpSpPr>
      <p:grpSpPr>
        <a:xfrm>
          <a:off x="0" y="0"/>
          <a:ext cx="0" cy="0"/>
          <a:chOff x="0" y="0"/>
          <a:chExt cx="0" cy="0"/>
        </a:xfrm>
      </p:grpSpPr>
      <p:sp>
        <p:nvSpPr>
          <p:cNvPr id="151" name="Google Shape;151;p27"/>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7"/>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3" name="Google Shape;153;p2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57" name="Shape 157"/>
        <p:cNvGrpSpPr/>
        <p:nvPr/>
      </p:nvGrpSpPr>
      <p:grpSpPr>
        <a:xfrm>
          <a:off x="0" y="0"/>
          <a:ext cx="0" cy="0"/>
          <a:chOff x="0" y="0"/>
          <a:chExt cx="0" cy="0"/>
        </a:xfrm>
      </p:grpSpPr>
      <p:sp>
        <p:nvSpPr>
          <p:cNvPr id="158" name="Google Shape;158;p28"/>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8"/>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60" name="Google Shape;160;p2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2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2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D7C7"/>
            </a:gs>
          </a:gsLst>
          <a:path path="circle">
            <a:fillToRect b="100%" l="0%" r="100%" t="0%"/>
          </a:path>
          <a:tileRect b="0%" l="-100%" r="0%" t="-100%"/>
        </a:gradFill>
      </p:bgPr>
    </p:bg>
    <p:spTree>
      <p:nvGrpSpPr>
        <p:cNvPr id="9" name="Shape 9"/>
        <p:cNvGrpSpPr/>
        <p:nvPr/>
      </p:nvGrpSpPr>
      <p:grpSpPr>
        <a:xfrm>
          <a:off x="0" y="0"/>
          <a:ext cx="0" cy="0"/>
          <a:chOff x="0" y="0"/>
          <a:chExt cx="0" cy="0"/>
        </a:xfrm>
      </p:grpSpPr>
      <p:grpSp>
        <p:nvGrpSpPr>
          <p:cNvPr id="10" name="Google Shape;10;p12"/>
          <p:cNvGrpSpPr/>
          <p:nvPr/>
        </p:nvGrpSpPr>
        <p:grpSpPr>
          <a:xfrm>
            <a:off x="1" y="228600"/>
            <a:ext cx="2851516" cy="6638628"/>
            <a:chOff x="2487613" y="285750"/>
            <a:chExt cx="2428875" cy="5654676"/>
          </a:xfrm>
        </p:grpSpPr>
        <p:sp>
          <p:nvSpPr>
            <p:cNvPr id="11" name="Google Shape;11;p12"/>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2"/>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2"/>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2"/>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2"/>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2"/>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2"/>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2"/>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2"/>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2"/>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2"/>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2"/>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12"/>
          <p:cNvGrpSpPr/>
          <p:nvPr/>
        </p:nvGrpSpPr>
        <p:grpSpPr>
          <a:xfrm>
            <a:off x="27222" y="-786"/>
            <a:ext cx="2356674" cy="6854039"/>
            <a:chOff x="6627813" y="194833"/>
            <a:chExt cx="1952625" cy="5678918"/>
          </a:xfrm>
        </p:grpSpPr>
        <p:sp>
          <p:nvSpPr>
            <p:cNvPr id="24" name="Google Shape;24;p12"/>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2"/>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2"/>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2"/>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2"/>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2"/>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2"/>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2"/>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2"/>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2"/>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2"/>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2"/>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12"/>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2"/>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8" name="Google Shape;38;p12"/>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9" name="Google Shape;39;p1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0" name="Google Shape;40;p1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1" name="Google Shape;41;p1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262626"/>
              </a:buClr>
              <a:buSzPts val="5400"/>
              <a:buFont typeface="Century Gothic"/>
              <a:buNone/>
            </a:pPr>
            <a:r>
              <a:rPr lang="es-AR"/>
              <a:t>Diseño de Bases de Datos</a:t>
            </a:r>
            <a:endParaRPr/>
          </a:p>
        </p:txBody>
      </p:sp>
      <p:sp>
        <p:nvSpPr>
          <p:cNvPr id="170" name="Google Shape;170;p1"/>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s-AR"/>
              <a:t>Prof.  Luciano Marrero</a:t>
            </a:r>
            <a:endParaRPr/>
          </a:p>
          <a:p>
            <a:pPr indent="0" lvl="0" marL="0" rtl="0" algn="l">
              <a:lnSpc>
                <a:spcPct val="90000"/>
              </a:lnSpc>
              <a:spcBef>
                <a:spcPts val="1000"/>
              </a:spcBef>
              <a:spcAft>
                <a:spcPts val="0"/>
              </a:spcAft>
              <a:buSzPts val="1800"/>
              <a:buNone/>
            </a:pPr>
            <a:r>
              <a:rPr lang="es-AR"/>
              <a:t>	Pablo Thomas</a:t>
            </a:r>
            <a:endParaRPr/>
          </a:p>
          <a:p>
            <a:pPr indent="0" lvl="0" marL="0" rtl="0" algn="l">
              <a:lnSpc>
                <a:spcPct val="90000"/>
              </a:lnSpc>
              <a:spcBef>
                <a:spcPts val="1000"/>
              </a:spcBef>
              <a:spcAft>
                <a:spcPts val="0"/>
              </a:spcAft>
              <a:buSzPts val="1800"/>
              <a:buNone/>
            </a:pPr>
            <a:r>
              <a:rPr lang="es-AR"/>
              <a:t>          Rodolfo Bertone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Modelo Conceptual ER</a:t>
            </a:r>
            <a:endParaRPr/>
          </a:p>
        </p:txBody>
      </p:sp>
      <p:grpSp>
        <p:nvGrpSpPr>
          <p:cNvPr id="176" name="Google Shape;176;p2"/>
          <p:cNvGrpSpPr/>
          <p:nvPr/>
        </p:nvGrpSpPr>
        <p:grpSpPr>
          <a:xfrm>
            <a:off x="2589213" y="2179389"/>
            <a:ext cx="8915400" cy="3686671"/>
            <a:chOff x="0" y="45789"/>
            <a:chExt cx="8915400" cy="3686671"/>
          </a:xfrm>
        </p:grpSpPr>
        <p:sp>
          <p:nvSpPr>
            <p:cNvPr id="177" name="Google Shape;177;p2"/>
            <p:cNvSpPr/>
            <p:nvPr/>
          </p:nvSpPr>
          <p:spPr>
            <a:xfrm>
              <a:off x="0" y="45789"/>
              <a:ext cx="8915400" cy="1829880"/>
            </a:xfrm>
            <a:prstGeom prst="roundRect">
              <a:avLst>
                <a:gd fmla="val 16667" name="adj"/>
              </a:avLst>
            </a:prstGeom>
            <a:solidFill>
              <a:srgbClr val="539E36"/>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
            <p:cNvSpPr txBox="1"/>
            <p:nvPr/>
          </p:nvSpPr>
          <p:spPr>
            <a:xfrm>
              <a:off x="89327" y="135116"/>
              <a:ext cx="8736746" cy="1651226"/>
            </a:xfrm>
            <a:prstGeom prst="rect">
              <a:avLst/>
            </a:prstGeom>
            <a:noFill/>
            <a:ln>
              <a:noFill/>
            </a:ln>
          </p:spPr>
          <p:txBody>
            <a:bodyPr anchorCtr="0" anchor="ctr" bIns="175250" lIns="175250" spcFirstLastPara="1" rIns="175250" wrap="square" tIns="175250">
              <a:noAutofit/>
            </a:bodyPr>
            <a:lstStyle/>
            <a:p>
              <a:pPr indent="0" lvl="0" marL="0" marR="0" rtl="0" algn="l">
                <a:lnSpc>
                  <a:spcPct val="90000"/>
                </a:lnSpc>
                <a:spcBef>
                  <a:spcPts val="0"/>
                </a:spcBef>
                <a:spcAft>
                  <a:spcPts val="0"/>
                </a:spcAft>
                <a:buClr>
                  <a:schemeClr val="lt1"/>
                </a:buClr>
                <a:buSzPts val="4600"/>
                <a:buFont typeface="Century Gothic"/>
                <a:buNone/>
              </a:pPr>
              <a:r>
                <a:rPr b="0" i="0" lang="es-AR" sz="4600" u="none" cap="none" strike="noStrike">
                  <a:solidFill>
                    <a:schemeClr val="lt1"/>
                  </a:solidFill>
                  <a:latin typeface="Century Gothic"/>
                  <a:ea typeface="Century Gothic"/>
                  <a:cs typeface="Century Gothic"/>
                  <a:sym typeface="Century Gothic"/>
                </a:rPr>
                <a:t>Componentes adicionales de modelado</a:t>
              </a:r>
              <a:endParaRPr/>
            </a:p>
          </p:txBody>
        </p:sp>
        <p:sp>
          <p:nvSpPr>
            <p:cNvPr id="179" name="Google Shape;179;p2"/>
            <p:cNvSpPr/>
            <p:nvPr/>
          </p:nvSpPr>
          <p:spPr>
            <a:xfrm>
              <a:off x="0" y="1875670"/>
              <a:ext cx="8915400" cy="185679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
            <p:cNvSpPr txBox="1"/>
            <p:nvPr/>
          </p:nvSpPr>
          <p:spPr>
            <a:xfrm>
              <a:off x="0" y="1875670"/>
              <a:ext cx="8915400" cy="1856790"/>
            </a:xfrm>
            <a:prstGeom prst="rect">
              <a:avLst/>
            </a:prstGeom>
            <a:noFill/>
            <a:ln>
              <a:noFill/>
            </a:ln>
          </p:spPr>
          <p:txBody>
            <a:bodyPr anchorCtr="0" anchor="t" bIns="58400" lIns="283050" spcFirstLastPara="1" rIns="327150" wrap="square" tIns="58400">
              <a:noAutofit/>
            </a:bodyPr>
            <a:lstStyle/>
            <a:p>
              <a:pPr indent="-285750" lvl="1" marL="285750" marR="0" rtl="0" algn="l">
                <a:lnSpc>
                  <a:spcPct val="90000"/>
                </a:lnSpc>
                <a:spcBef>
                  <a:spcPts val="0"/>
                </a:spcBef>
                <a:spcAft>
                  <a:spcPts val="0"/>
                </a:spcAft>
                <a:buClr>
                  <a:schemeClr val="dk1"/>
                </a:buClr>
                <a:buSzPts val="3600"/>
                <a:buFont typeface="Century Gothic"/>
                <a:buChar char="•"/>
              </a:pPr>
              <a:r>
                <a:rPr b="0" i="0" lang="es-AR" sz="3600" u="none" cap="none" strike="noStrike">
                  <a:solidFill>
                    <a:schemeClr val="dk1"/>
                  </a:solidFill>
                  <a:latin typeface="Century Gothic"/>
                  <a:ea typeface="Century Gothic"/>
                  <a:cs typeface="Century Gothic"/>
                  <a:sym typeface="Century Gothic"/>
                </a:rPr>
                <a:t>Atributos compuestos</a:t>
              </a:r>
              <a:endParaRPr/>
            </a:p>
            <a:p>
              <a:pPr indent="-285750" lvl="1" marL="285750" marR="0" rtl="0" algn="l">
                <a:lnSpc>
                  <a:spcPct val="90000"/>
                </a:lnSpc>
                <a:spcBef>
                  <a:spcPts val="720"/>
                </a:spcBef>
                <a:spcAft>
                  <a:spcPts val="0"/>
                </a:spcAft>
                <a:buClr>
                  <a:schemeClr val="dk1"/>
                </a:buClr>
                <a:buSzPts val="3600"/>
                <a:buFont typeface="Century Gothic"/>
                <a:buChar char="•"/>
              </a:pPr>
              <a:r>
                <a:rPr b="0" i="0" lang="es-AR" sz="3600" u="none" cap="none" strike="noStrike">
                  <a:solidFill>
                    <a:schemeClr val="dk1"/>
                  </a:solidFill>
                  <a:latin typeface="Century Gothic"/>
                  <a:ea typeface="Century Gothic"/>
                  <a:cs typeface="Century Gothic"/>
                  <a:sym typeface="Century Gothic"/>
                </a:rPr>
                <a:t>Jerarquías/subconjuntos</a:t>
              </a:r>
              <a:endParaRPr/>
            </a:p>
            <a:p>
              <a:pPr indent="-285750" lvl="1" marL="285750" marR="0" rtl="0" algn="l">
                <a:lnSpc>
                  <a:spcPct val="90000"/>
                </a:lnSpc>
                <a:spcBef>
                  <a:spcPts val="720"/>
                </a:spcBef>
                <a:spcAft>
                  <a:spcPts val="0"/>
                </a:spcAft>
                <a:buClr>
                  <a:schemeClr val="dk1"/>
                </a:buClr>
                <a:buSzPts val="3600"/>
                <a:buFont typeface="Century Gothic"/>
                <a:buChar char="•"/>
              </a:pPr>
              <a:r>
                <a:rPr b="0" i="0" lang="es-AR" sz="3600" u="none" cap="none" strike="noStrike">
                  <a:solidFill>
                    <a:schemeClr val="dk1"/>
                  </a:solidFill>
                  <a:latin typeface="Century Gothic"/>
                  <a:ea typeface="Century Gothic"/>
                  <a:cs typeface="Century Gothic"/>
                  <a:sym typeface="Century Gothic"/>
                </a:rPr>
                <a:t>Identificadores</a:t>
              </a:r>
              <a:endParaRPr/>
            </a:p>
          </p:txBody>
        </p:sp>
      </p:grpSp>
      <p:sp>
        <p:nvSpPr>
          <p:cNvPr id="181" name="Google Shape;181;p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DBD  - CLASE 1</a:t>
            </a:r>
            <a:endParaRPr/>
          </a:p>
        </p:txBody>
      </p:sp>
      <p:sp>
        <p:nvSpPr>
          <p:cNvPr id="182" name="Google Shape;182;p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pic>
        <p:nvPicPr>
          <p:cNvPr descr="c2_2" id="183" name="Google Shape;183;p2"/>
          <p:cNvPicPr preferRelativeResize="0"/>
          <p:nvPr/>
        </p:nvPicPr>
        <p:blipFill rotWithShape="1">
          <a:blip r:embed="rId3">
            <a:alphaModFix/>
          </a:blip>
          <a:srcRect b="0" l="0" r="0" t="0"/>
          <a:stretch/>
        </p:blipFill>
        <p:spPr>
          <a:xfrm>
            <a:off x="1083500" y="3022600"/>
            <a:ext cx="812800" cy="812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Modelo Conceptual ER</a:t>
            </a:r>
            <a:endParaRPr/>
          </a:p>
        </p:txBody>
      </p:sp>
      <p:grpSp>
        <p:nvGrpSpPr>
          <p:cNvPr id="189" name="Google Shape;189;p3"/>
          <p:cNvGrpSpPr/>
          <p:nvPr/>
        </p:nvGrpSpPr>
        <p:grpSpPr>
          <a:xfrm>
            <a:off x="1941511" y="1527884"/>
            <a:ext cx="8915400" cy="3357315"/>
            <a:chOff x="0" y="210467"/>
            <a:chExt cx="8915400" cy="3357315"/>
          </a:xfrm>
        </p:grpSpPr>
        <p:sp>
          <p:nvSpPr>
            <p:cNvPr id="190" name="Google Shape;190;p3"/>
            <p:cNvSpPr/>
            <p:nvPr/>
          </p:nvSpPr>
          <p:spPr>
            <a:xfrm>
              <a:off x="0" y="210467"/>
              <a:ext cx="8915400" cy="935415"/>
            </a:xfrm>
            <a:prstGeom prst="roundRect">
              <a:avLst>
                <a:gd fmla="val 16667" name="adj"/>
              </a:avLst>
            </a:prstGeom>
            <a:solidFill>
              <a:srgbClr val="539E36"/>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txBox="1"/>
            <p:nvPr/>
          </p:nvSpPr>
          <p:spPr>
            <a:xfrm>
              <a:off x="45663" y="256130"/>
              <a:ext cx="8824074" cy="844089"/>
            </a:xfrm>
            <a:prstGeom prst="rect">
              <a:avLst/>
            </a:prstGeom>
            <a:noFill/>
            <a:ln>
              <a:noFill/>
            </a:ln>
          </p:spPr>
          <p:txBody>
            <a:bodyPr anchorCtr="0" anchor="ctr" bIns="148575" lIns="148575" spcFirstLastPara="1" rIns="148575" wrap="square" tIns="148575">
              <a:noAutofit/>
            </a:bodyPr>
            <a:lstStyle/>
            <a:p>
              <a:pPr indent="0" lvl="0" marL="0" marR="0" rtl="0" algn="l">
                <a:lnSpc>
                  <a:spcPct val="90000"/>
                </a:lnSpc>
                <a:spcBef>
                  <a:spcPts val="0"/>
                </a:spcBef>
                <a:spcAft>
                  <a:spcPts val="0"/>
                </a:spcAft>
                <a:buClr>
                  <a:schemeClr val="lt1"/>
                </a:buClr>
                <a:buSzPts val="3900"/>
                <a:buFont typeface="Century Gothic"/>
                <a:buNone/>
              </a:pPr>
              <a:r>
                <a:rPr b="0" i="0" lang="es-AR" sz="3900" u="none" cap="none" strike="noStrike">
                  <a:solidFill>
                    <a:schemeClr val="lt1"/>
                  </a:solidFill>
                  <a:latin typeface="Century Gothic"/>
                  <a:ea typeface="Century Gothic"/>
                  <a:cs typeface="Century Gothic"/>
                  <a:sym typeface="Century Gothic"/>
                </a:rPr>
                <a:t>Atributos compuestos</a:t>
              </a:r>
              <a:endParaRPr/>
            </a:p>
          </p:txBody>
        </p:sp>
        <p:sp>
          <p:nvSpPr>
            <p:cNvPr id="192" name="Google Shape;192;p3"/>
            <p:cNvSpPr/>
            <p:nvPr/>
          </p:nvSpPr>
          <p:spPr>
            <a:xfrm>
              <a:off x="0" y="1145882"/>
              <a:ext cx="8915400" cy="24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txBox="1"/>
            <p:nvPr/>
          </p:nvSpPr>
          <p:spPr>
            <a:xfrm>
              <a:off x="0" y="1145882"/>
              <a:ext cx="8915400" cy="2421900"/>
            </a:xfrm>
            <a:prstGeom prst="rect">
              <a:avLst/>
            </a:prstGeom>
            <a:noFill/>
            <a:ln>
              <a:noFill/>
            </a:ln>
          </p:spPr>
          <p:txBody>
            <a:bodyPr anchorCtr="0" anchor="t" bIns="49525" lIns="283050" spcFirstLastPara="1" rIns="277350" wrap="square" tIns="49525">
              <a:noAutofit/>
            </a:bodyPr>
            <a:lstStyle/>
            <a:p>
              <a:pPr indent="-285750" lvl="1" marL="285750" marR="0" rtl="0" algn="l">
                <a:lnSpc>
                  <a:spcPct val="90000"/>
                </a:lnSpc>
                <a:spcBef>
                  <a:spcPts val="0"/>
                </a:spcBef>
                <a:spcAft>
                  <a:spcPts val="0"/>
                </a:spcAft>
                <a:buClr>
                  <a:schemeClr val="dk1"/>
                </a:buClr>
                <a:buSzPts val="3000"/>
                <a:buFont typeface="Century Gothic"/>
                <a:buChar char="•"/>
              </a:pPr>
              <a:r>
                <a:rPr b="0" i="0" lang="es-AR" sz="3000" u="none" cap="none" strike="noStrike">
                  <a:solidFill>
                    <a:schemeClr val="dk1"/>
                  </a:solidFill>
                  <a:latin typeface="Century Gothic"/>
                  <a:ea typeface="Century Gothic"/>
                  <a:cs typeface="Century Gothic"/>
                  <a:sym typeface="Century Gothic"/>
                </a:rPr>
                <a:t>Representan un atributo generado a partir de una combinación de atributos simples</a:t>
              </a:r>
              <a:endParaRPr/>
            </a:p>
            <a:p>
              <a:pPr indent="-285750" lvl="1" marL="285750" marR="0" rtl="0" algn="l">
                <a:lnSpc>
                  <a:spcPct val="90000"/>
                </a:lnSpc>
                <a:spcBef>
                  <a:spcPts val="600"/>
                </a:spcBef>
                <a:spcAft>
                  <a:spcPts val="0"/>
                </a:spcAft>
                <a:buClr>
                  <a:schemeClr val="dk1"/>
                </a:buClr>
                <a:buSzPts val="3000"/>
                <a:buFont typeface="Century Gothic"/>
                <a:buChar char="•"/>
              </a:pPr>
              <a:r>
                <a:rPr b="0" i="0" lang="es-AR" sz="3000" u="none" cap="none" strike="noStrike">
                  <a:solidFill>
                    <a:schemeClr val="dk1"/>
                  </a:solidFill>
                  <a:latin typeface="Century Gothic"/>
                  <a:ea typeface="Century Gothic"/>
                  <a:cs typeface="Century Gothic"/>
                  <a:sym typeface="Century Gothic"/>
                </a:rPr>
                <a:t>Puede ser polivalente y no obligatorio</a:t>
              </a:r>
              <a:endParaRPr/>
            </a:p>
            <a:p>
              <a:pPr indent="-285750" lvl="1" marL="285750" marR="0" rtl="0" algn="l">
                <a:lnSpc>
                  <a:spcPct val="90000"/>
                </a:lnSpc>
                <a:spcBef>
                  <a:spcPts val="600"/>
                </a:spcBef>
                <a:spcAft>
                  <a:spcPts val="0"/>
                </a:spcAft>
                <a:buClr>
                  <a:schemeClr val="dk1"/>
                </a:buClr>
                <a:buSzPts val="3000"/>
                <a:buFont typeface="Century Gothic"/>
                <a:buChar char="•"/>
              </a:pPr>
              <a:r>
                <a:rPr b="0" i="0" lang="es-AR" sz="3000" u="none" cap="none" strike="noStrike">
                  <a:solidFill>
                    <a:schemeClr val="dk1"/>
                  </a:solidFill>
                  <a:latin typeface="Century Gothic"/>
                  <a:ea typeface="Century Gothic"/>
                  <a:cs typeface="Century Gothic"/>
                  <a:sym typeface="Century Gothic"/>
                </a:rPr>
                <a:t>Sus atributos simples pueden ser polivalentes y no obligatorios también.	</a:t>
              </a:r>
              <a:endParaRPr/>
            </a:p>
          </p:txBody>
        </p:sp>
      </p:grpSp>
      <p:sp>
        <p:nvSpPr>
          <p:cNvPr id="194" name="Google Shape;194;p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DBD  - CLASE 1</a:t>
            </a:r>
            <a:endParaRPr/>
          </a:p>
        </p:txBody>
      </p:sp>
      <p:sp>
        <p:nvSpPr>
          <p:cNvPr id="195" name="Google Shape;195;p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pic>
        <p:nvPicPr>
          <p:cNvPr id="196" name="Google Shape;196;p3"/>
          <p:cNvPicPr preferRelativeResize="0"/>
          <p:nvPr/>
        </p:nvPicPr>
        <p:blipFill rotWithShape="1">
          <a:blip r:embed="rId3">
            <a:alphaModFix/>
          </a:blip>
          <a:srcRect b="0" l="0" r="0" t="0"/>
          <a:stretch/>
        </p:blipFill>
        <p:spPr>
          <a:xfrm>
            <a:off x="7124915" y="4823376"/>
            <a:ext cx="4185510" cy="2034624"/>
          </a:xfrm>
          <a:prstGeom prst="rect">
            <a:avLst/>
          </a:prstGeom>
          <a:noFill/>
          <a:ln>
            <a:noFill/>
          </a:ln>
        </p:spPr>
      </p:pic>
      <p:pic>
        <p:nvPicPr>
          <p:cNvPr descr="c2_3" id="197" name="Google Shape;197;p3"/>
          <p:cNvPicPr preferRelativeResize="0"/>
          <p:nvPr/>
        </p:nvPicPr>
        <p:blipFill rotWithShape="1">
          <a:blip r:embed="rId4">
            <a:alphaModFix/>
          </a:blip>
          <a:srcRect b="0" l="0" r="0" t="0"/>
          <a:stretch/>
        </p:blipFill>
        <p:spPr>
          <a:xfrm>
            <a:off x="1177925" y="5008250"/>
            <a:ext cx="812800" cy="812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Modelo Conceptual ER</a:t>
            </a:r>
            <a:endParaRPr/>
          </a:p>
        </p:txBody>
      </p:sp>
      <p:grpSp>
        <p:nvGrpSpPr>
          <p:cNvPr id="203" name="Google Shape;203;p4"/>
          <p:cNvGrpSpPr/>
          <p:nvPr/>
        </p:nvGrpSpPr>
        <p:grpSpPr>
          <a:xfrm>
            <a:off x="2026505" y="1346160"/>
            <a:ext cx="8915400" cy="3721275"/>
            <a:chOff x="0" y="28487"/>
            <a:chExt cx="8915400" cy="3721275"/>
          </a:xfrm>
        </p:grpSpPr>
        <p:sp>
          <p:nvSpPr>
            <p:cNvPr id="204" name="Google Shape;204;p4"/>
            <p:cNvSpPr/>
            <p:nvPr/>
          </p:nvSpPr>
          <p:spPr>
            <a:xfrm>
              <a:off x="0" y="28487"/>
              <a:ext cx="8915400" cy="887445"/>
            </a:xfrm>
            <a:prstGeom prst="roundRect">
              <a:avLst>
                <a:gd fmla="val 16667" name="adj"/>
              </a:avLst>
            </a:prstGeom>
            <a:solidFill>
              <a:srgbClr val="539E36"/>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
            <p:cNvSpPr txBox="1"/>
            <p:nvPr/>
          </p:nvSpPr>
          <p:spPr>
            <a:xfrm>
              <a:off x="43321" y="71808"/>
              <a:ext cx="8828758" cy="800803"/>
            </a:xfrm>
            <a:prstGeom prst="rect">
              <a:avLst/>
            </a:prstGeom>
            <a:noFill/>
            <a:ln>
              <a:noFill/>
            </a:ln>
          </p:spPr>
          <p:txBody>
            <a:bodyPr anchorCtr="0" anchor="ctr" bIns="140950" lIns="140950" spcFirstLastPara="1" rIns="140950" wrap="square" tIns="140950">
              <a:noAutofit/>
            </a:bodyPr>
            <a:lstStyle/>
            <a:p>
              <a:pPr indent="0" lvl="0" marL="0" marR="0" rtl="0" algn="l">
                <a:lnSpc>
                  <a:spcPct val="90000"/>
                </a:lnSpc>
                <a:spcBef>
                  <a:spcPts val="0"/>
                </a:spcBef>
                <a:spcAft>
                  <a:spcPts val="0"/>
                </a:spcAft>
                <a:buClr>
                  <a:schemeClr val="lt1"/>
                </a:buClr>
                <a:buSzPts val="3700"/>
                <a:buFont typeface="Century Gothic"/>
                <a:buNone/>
              </a:pPr>
              <a:r>
                <a:rPr b="0" i="0" lang="es-AR" sz="3700" u="none" cap="none" strike="noStrike">
                  <a:solidFill>
                    <a:schemeClr val="lt1"/>
                  </a:solidFill>
                  <a:latin typeface="Century Gothic"/>
                  <a:ea typeface="Century Gothic"/>
                  <a:cs typeface="Century Gothic"/>
                  <a:sym typeface="Century Gothic"/>
                </a:rPr>
                <a:t>Identificadores</a:t>
              </a:r>
              <a:endParaRPr/>
            </a:p>
          </p:txBody>
        </p:sp>
        <p:sp>
          <p:nvSpPr>
            <p:cNvPr id="206" name="Google Shape;206;p4"/>
            <p:cNvSpPr/>
            <p:nvPr/>
          </p:nvSpPr>
          <p:spPr>
            <a:xfrm>
              <a:off x="0" y="915932"/>
              <a:ext cx="8915400" cy="28338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4"/>
            <p:cNvSpPr txBox="1"/>
            <p:nvPr/>
          </p:nvSpPr>
          <p:spPr>
            <a:xfrm>
              <a:off x="0" y="915932"/>
              <a:ext cx="8915400" cy="2833830"/>
            </a:xfrm>
            <a:prstGeom prst="rect">
              <a:avLst/>
            </a:prstGeom>
            <a:noFill/>
            <a:ln>
              <a:noFill/>
            </a:ln>
          </p:spPr>
          <p:txBody>
            <a:bodyPr anchorCtr="0" anchor="t" bIns="46975" lIns="283050" spcFirstLastPara="1" rIns="263125" wrap="square" tIns="46975">
              <a:noAutofit/>
            </a:bodyPr>
            <a:lstStyle/>
            <a:p>
              <a:pPr indent="-285750" lvl="1" marL="285750" marR="0" rtl="0" algn="l">
                <a:lnSpc>
                  <a:spcPct val="90000"/>
                </a:lnSpc>
                <a:spcBef>
                  <a:spcPts val="0"/>
                </a:spcBef>
                <a:spcAft>
                  <a:spcPts val="0"/>
                </a:spcAft>
                <a:buClr>
                  <a:schemeClr val="dk1"/>
                </a:buClr>
                <a:buSzPts val="2900"/>
                <a:buFont typeface="Century Gothic"/>
                <a:buChar char="•"/>
              </a:pPr>
              <a:r>
                <a:rPr b="0" i="0" lang="es-AR" sz="2900" u="none" cap="none" strike="noStrike">
                  <a:solidFill>
                    <a:schemeClr val="dk1"/>
                  </a:solidFill>
                  <a:latin typeface="Century Gothic"/>
                  <a:ea typeface="Century Gothic"/>
                  <a:cs typeface="Century Gothic"/>
                  <a:sym typeface="Century Gothic"/>
                </a:rPr>
                <a:t>Es un atributo o conjunto de atributos que permite reconocer una entidad de manera unívoca dentro del conjunto de entidades</a:t>
              </a:r>
              <a:endParaRPr/>
            </a:p>
            <a:p>
              <a:pPr indent="-285750" lvl="1" marL="285750" marR="0" rtl="0" algn="l">
                <a:lnSpc>
                  <a:spcPct val="90000"/>
                </a:lnSpc>
                <a:spcBef>
                  <a:spcPts val="580"/>
                </a:spcBef>
                <a:spcAft>
                  <a:spcPts val="0"/>
                </a:spcAft>
                <a:buClr>
                  <a:schemeClr val="dk1"/>
                </a:buClr>
                <a:buSzPts val="2900"/>
                <a:buFont typeface="Century Gothic"/>
                <a:buChar char="•"/>
              </a:pPr>
              <a:r>
                <a:rPr b="0" i="0" lang="es-AR" sz="2900" u="none" cap="none" strike="noStrike">
                  <a:solidFill>
                    <a:schemeClr val="dk1"/>
                  </a:solidFill>
                  <a:latin typeface="Century Gothic"/>
                  <a:ea typeface="Century Gothic"/>
                  <a:cs typeface="Century Gothic"/>
                  <a:sym typeface="Century Gothic"/>
                </a:rPr>
                <a:t>Pueden ser</a:t>
              </a:r>
              <a:endParaRPr/>
            </a:p>
            <a:p>
              <a:pPr indent="-285750" lvl="2" marL="571500" marR="0" rtl="0" algn="l">
                <a:lnSpc>
                  <a:spcPct val="90000"/>
                </a:lnSpc>
                <a:spcBef>
                  <a:spcPts val="580"/>
                </a:spcBef>
                <a:spcAft>
                  <a:spcPts val="0"/>
                </a:spcAft>
                <a:buClr>
                  <a:schemeClr val="dk1"/>
                </a:buClr>
                <a:buSzPts val="2900"/>
                <a:buFont typeface="Century Gothic"/>
                <a:buChar char="•"/>
              </a:pPr>
              <a:r>
                <a:rPr b="0" i="0" lang="es-AR" sz="2900" u="none" cap="none" strike="noStrike">
                  <a:solidFill>
                    <a:schemeClr val="dk1"/>
                  </a:solidFill>
                  <a:latin typeface="Century Gothic"/>
                  <a:ea typeface="Century Gothic"/>
                  <a:cs typeface="Century Gothic"/>
                  <a:sym typeface="Century Gothic"/>
                </a:rPr>
                <a:t>simples o compuestos</a:t>
              </a:r>
              <a:endParaRPr/>
            </a:p>
            <a:p>
              <a:pPr indent="-285750" lvl="2" marL="571500" marR="0" rtl="0" algn="l">
                <a:lnSpc>
                  <a:spcPct val="90000"/>
                </a:lnSpc>
                <a:spcBef>
                  <a:spcPts val="580"/>
                </a:spcBef>
                <a:spcAft>
                  <a:spcPts val="0"/>
                </a:spcAft>
                <a:buClr>
                  <a:schemeClr val="dk1"/>
                </a:buClr>
                <a:buSzPts val="2900"/>
                <a:buFont typeface="Century Gothic"/>
                <a:buChar char="•"/>
              </a:pPr>
              <a:r>
                <a:rPr b="0" i="0" lang="es-AR" sz="2900" u="none" cap="none" strike="noStrike">
                  <a:solidFill>
                    <a:schemeClr val="dk1"/>
                  </a:solidFill>
                  <a:latin typeface="Century Gothic"/>
                  <a:ea typeface="Century Gothic"/>
                  <a:cs typeface="Century Gothic"/>
                  <a:sym typeface="Century Gothic"/>
                </a:rPr>
                <a:t>Internos o externos</a:t>
              </a:r>
              <a:endParaRPr/>
            </a:p>
          </p:txBody>
        </p:sp>
      </p:grpSp>
      <p:sp>
        <p:nvSpPr>
          <p:cNvPr id="208" name="Google Shape;208;p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DBD  - CLASE 1</a:t>
            </a:r>
            <a:endParaRPr/>
          </a:p>
        </p:txBody>
      </p:sp>
      <p:sp>
        <p:nvSpPr>
          <p:cNvPr id="209" name="Google Shape;209;p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pic>
        <p:nvPicPr>
          <p:cNvPr descr="c2_4" id="210" name="Google Shape;210;p4"/>
          <p:cNvPicPr preferRelativeResize="0"/>
          <p:nvPr/>
        </p:nvPicPr>
        <p:blipFill rotWithShape="1">
          <a:blip r:embed="rId3">
            <a:alphaModFix/>
          </a:blip>
          <a:srcRect b="0" l="0" r="0" t="0"/>
          <a:stretch/>
        </p:blipFill>
        <p:spPr>
          <a:xfrm>
            <a:off x="8936892" y="3854939"/>
            <a:ext cx="812800" cy="812800"/>
          </a:xfrm>
          <a:prstGeom prst="rect">
            <a:avLst/>
          </a:prstGeom>
          <a:noFill/>
          <a:ln>
            <a:noFill/>
          </a:ln>
        </p:spPr>
      </p:pic>
      <p:pic>
        <p:nvPicPr>
          <p:cNvPr descr="c2_4_2" id="211" name="Google Shape;211;p4"/>
          <p:cNvPicPr preferRelativeResize="0"/>
          <p:nvPr/>
        </p:nvPicPr>
        <p:blipFill rotWithShape="1">
          <a:blip r:embed="rId3">
            <a:alphaModFix/>
          </a:blip>
          <a:srcRect b="0" l="0" r="0" t="0"/>
          <a:stretch/>
        </p:blipFill>
        <p:spPr>
          <a:xfrm>
            <a:off x="8936892" y="5133927"/>
            <a:ext cx="812800" cy="812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Modelo Conceptual ER</a:t>
            </a:r>
            <a:endParaRPr/>
          </a:p>
        </p:txBody>
      </p:sp>
      <p:sp>
        <p:nvSpPr>
          <p:cNvPr id="217" name="Google Shape;217;p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DBD  - CLASE 1</a:t>
            </a:r>
            <a:endParaRPr/>
          </a:p>
        </p:txBody>
      </p:sp>
      <p:sp>
        <p:nvSpPr>
          <p:cNvPr id="218" name="Google Shape;218;p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pic>
        <p:nvPicPr>
          <p:cNvPr id="219" name="Google Shape;219;p5"/>
          <p:cNvPicPr preferRelativeResize="0"/>
          <p:nvPr/>
        </p:nvPicPr>
        <p:blipFill rotWithShape="1">
          <a:blip r:embed="rId3">
            <a:alphaModFix/>
          </a:blip>
          <a:srcRect b="0" l="0" r="0" t="0"/>
          <a:stretch/>
        </p:blipFill>
        <p:spPr>
          <a:xfrm>
            <a:off x="2201230" y="2008072"/>
            <a:ext cx="7761401" cy="1333828"/>
          </a:xfrm>
          <a:prstGeom prst="rect">
            <a:avLst/>
          </a:prstGeom>
          <a:noFill/>
          <a:ln>
            <a:noFill/>
          </a:ln>
        </p:spPr>
      </p:pic>
      <p:pic>
        <p:nvPicPr>
          <p:cNvPr id="220" name="Google Shape;220;p5"/>
          <p:cNvPicPr preferRelativeResize="0"/>
          <p:nvPr/>
        </p:nvPicPr>
        <p:blipFill rotWithShape="1">
          <a:blip r:embed="rId4">
            <a:alphaModFix/>
          </a:blip>
          <a:srcRect b="0" l="0" r="0" t="0"/>
          <a:stretch/>
        </p:blipFill>
        <p:spPr>
          <a:xfrm>
            <a:off x="1717801" y="3905143"/>
            <a:ext cx="2775993" cy="1107218"/>
          </a:xfrm>
          <a:prstGeom prst="rect">
            <a:avLst/>
          </a:prstGeom>
          <a:noFill/>
          <a:ln>
            <a:noFill/>
          </a:ln>
        </p:spPr>
      </p:pic>
      <p:pic>
        <p:nvPicPr>
          <p:cNvPr id="221" name="Google Shape;221;p5"/>
          <p:cNvPicPr preferRelativeResize="0"/>
          <p:nvPr/>
        </p:nvPicPr>
        <p:blipFill rotWithShape="1">
          <a:blip r:embed="rId5">
            <a:alphaModFix/>
          </a:blip>
          <a:srcRect b="0" l="0" r="0" t="0"/>
          <a:stretch/>
        </p:blipFill>
        <p:spPr>
          <a:xfrm>
            <a:off x="7417920" y="3341900"/>
            <a:ext cx="2781910" cy="3340922"/>
          </a:xfrm>
          <a:prstGeom prst="rect">
            <a:avLst/>
          </a:prstGeom>
          <a:noFill/>
          <a:ln>
            <a:noFill/>
          </a:ln>
        </p:spPr>
      </p:pic>
      <p:pic>
        <p:nvPicPr>
          <p:cNvPr descr="c2_5_1" id="222" name="Google Shape;222;p5"/>
          <p:cNvPicPr preferRelativeResize="0"/>
          <p:nvPr/>
        </p:nvPicPr>
        <p:blipFill rotWithShape="1">
          <a:blip r:embed="rId6">
            <a:alphaModFix/>
          </a:blip>
          <a:srcRect b="0" l="0" r="0" t="0"/>
          <a:stretch/>
        </p:blipFill>
        <p:spPr>
          <a:xfrm>
            <a:off x="1151231" y="2008072"/>
            <a:ext cx="812800" cy="812800"/>
          </a:xfrm>
          <a:prstGeom prst="rect">
            <a:avLst/>
          </a:prstGeom>
          <a:noFill/>
          <a:ln>
            <a:noFill/>
          </a:ln>
        </p:spPr>
      </p:pic>
      <p:pic>
        <p:nvPicPr>
          <p:cNvPr descr="c2_5_2" id="223" name="Google Shape;223;p5"/>
          <p:cNvPicPr preferRelativeResize="0"/>
          <p:nvPr/>
        </p:nvPicPr>
        <p:blipFill rotWithShape="1">
          <a:blip r:embed="rId6">
            <a:alphaModFix/>
          </a:blip>
          <a:srcRect b="0" l="0" r="0" t="0"/>
          <a:stretch/>
        </p:blipFill>
        <p:spPr>
          <a:xfrm>
            <a:off x="744831" y="4052352"/>
            <a:ext cx="812800" cy="812800"/>
          </a:xfrm>
          <a:prstGeom prst="rect">
            <a:avLst/>
          </a:prstGeom>
          <a:noFill/>
          <a:ln>
            <a:noFill/>
          </a:ln>
        </p:spPr>
      </p:pic>
      <p:pic>
        <p:nvPicPr>
          <p:cNvPr descr="c2_5_3" id="224" name="Google Shape;224;p5"/>
          <p:cNvPicPr preferRelativeResize="0"/>
          <p:nvPr/>
        </p:nvPicPr>
        <p:blipFill rotWithShape="1">
          <a:blip r:embed="rId6">
            <a:alphaModFix/>
          </a:blip>
          <a:srcRect b="0" l="0" r="0" t="0"/>
          <a:stretch/>
        </p:blipFill>
        <p:spPr>
          <a:xfrm>
            <a:off x="7291808" y="4865152"/>
            <a:ext cx="812800" cy="812800"/>
          </a:xfrm>
          <a:prstGeom prst="rect">
            <a:avLst/>
          </a:prstGeom>
          <a:noFill/>
          <a:ln>
            <a:noFill/>
          </a:ln>
        </p:spPr>
      </p:pic>
      <p:pic>
        <p:nvPicPr>
          <p:cNvPr descr="c_2_5_4" id="225" name="Google Shape;225;p5"/>
          <p:cNvPicPr preferRelativeResize="0"/>
          <p:nvPr/>
        </p:nvPicPr>
        <p:blipFill rotWithShape="1">
          <a:blip r:embed="rId6">
            <a:alphaModFix/>
          </a:blip>
          <a:srcRect b="0" l="0" r="0" t="0"/>
          <a:stretch/>
        </p:blipFill>
        <p:spPr>
          <a:xfrm>
            <a:off x="10691812" y="5827490"/>
            <a:ext cx="812800" cy="812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Modelo Conceptual ER</a:t>
            </a:r>
            <a:endParaRPr/>
          </a:p>
        </p:txBody>
      </p:sp>
      <p:grpSp>
        <p:nvGrpSpPr>
          <p:cNvPr id="231" name="Google Shape;231;p6"/>
          <p:cNvGrpSpPr/>
          <p:nvPr/>
        </p:nvGrpSpPr>
        <p:grpSpPr>
          <a:xfrm>
            <a:off x="1773287" y="1374296"/>
            <a:ext cx="8915400" cy="3721275"/>
            <a:chOff x="0" y="28487"/>
            <a:chExt cx="8915400" cy="3721275"/>
          </a:xfrm>
        </p:grpSpPr>
        <p:sp>
          <p:nvSpPr>
            <p:cNvPr id="232" name="Google Shape;232;p6"/>
            <p:cNvSpPr/>
            <p:nvPr/>
          </p:nvSpPr>
          <p:spPr>
            <a:xfrm>
              <a:off x="0" y="28487"/>
              <a:ext cx="8915400" cy="887445"/>
            </a:xfrm>
            <a:prstGeom prst="roundRect">
              <a:avLst>
                <a:gd fmla="val 16667" name="adj"/>
              </a:avLst>
            </a:prstGeom>
            <a:solidFill>
              <a:srgbClr val="539E36"/>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txBox="1"/>
            <p:nvPr/>
          </p:nvSpPr>
          <p:spPr>
            <a:xfrm>
              <a:off x="43321" y="71808"/>
              <a:ext cx="8828758" cy="800803"/>
            </a:xfrm>
            <a:prstGeom prst="rect">
              <a:avLst/>
            </a:prstGeom>
            <a:noFill/>
            <a:ln>
              <a:noFill/>
            </a:ln>
          </p:spPr>
          <p:txBody>
            <a:bodyPr anchorCtr="0" anchor="ctr" bIns="140950" lIns="140950" spcFirstLastPara="1" rIns="140950" wrap="square" tIns="140950">
              <a:noAutofit/>
            </a:bodyPr>
            <a:lstStyle/>
            <a:p>
              <a:pPr indent="0" lvl="0" marL="0" marR="0" rtl="0" algn="l">
                <a:lnSpc>
                  <a:spcPct val="90000"/>
                </a:lnSpc>
                <a:spcBef>
                  <a:spcPts val="0"/>
                </a:spcBef>
                <a:spcAft>
                  <a:spcPts val="0"/>
                </a:spcAft>
                <a:buClr>
                  <a:schemeClr val="lt1"/>
                </a:buClr>
                <a:buSzPts val="3700"/>
                <a:buFont typeface="Century Gothic"/>
                <a:buNone/>
              </a:pPr>
              <a:r>
                <a:rPr b="0" i="0" lang="es-AR" sz="3700" u="none" cap="none" strike="noStrike">
                  <a:solidFill>
                    <a:schemeClr val="lt1"/>
                  </a:solidFill>
                  <a:latin typeface="Century Gothic"/>
                  <a:ea typeface="Century Gothic"/>
                  <a:cs typeface="Century Gothic"/>
                  <a:sym typeface="Century Gothic"/>
                </a:rPr>
                <a:t>Jerarquías</a:t>
              </a:r>
              <a:endParaRPr/>
            </a:p>
          </p:txBody>
        </p:sp>
        <p:sp>
          <p:nvSpPr>
            <p:cNvPr id="234" name="Google Shape;234;p6"/>
            <p:cNvSpPr/>
            <p:nvPr/>
          </p:nvSpPr>
          <p:spPr>
            <a:xfrm>
              <a:off x="0" y="915932"/>
              <a:ext cx="8915400" cy="28338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txBox="1"/>
            <p:nvPr/>
          </p:nvSpPr>
          <p:spPr>
            <a:xfrm>
              <a:off x="0" y="915932"/>
              <a:ext cx="8915400" cy="2833830"/>
            </a:xfrm>
            <a:prstGeom prst="rect">
              <a:avLst/>
            </a:prstGeom>
            <a:noFill/>
            <a:ln>
              <a:noFill/>
            </a:ln>
          </p:spPr>
          <p:txBody>
            <a:bodyPr anchorCtr="0" anchor="t" bIns="46975" lIns="283050" spcFirstLastPara="1" rIns="263125" wrap="square" tIns="46975">
              <a:noAutofit/>
            </a:bodyPr>
            <a:lstStyle/>
            <a:p>
              <a:pPr indent="-285750" lvl="1" marL="285750" marR="0" rtl="0" algn="l">
                <a:lnSpc>
                  <a:spcPct val="90000"/>
                </a:lnSpc>
                <a:spcBef>
                  <a:spcPts val="0"/>
                </a:spcBef>
                <a:spcAft>
                  <a:spcPts val="0"/>
                </a:spcAft>
                <a:buClr>
                  <a:schemeClr val="dk1"/>
                </a:buClr>
                <a:buSzPts val="2900"/>
                <a:buFont typeface="Century Gothic"/>
                <a:buChar char="•"/>
              </a:pPr>
              <a:r>
                <a:rPr b="0" i="0" lang="es-AR" sz="2900" u="none" cap="none" strike="noStrike">
                  <a:solidFill>
                    <a:schemeClr val="dk1"/>
                  </a:solidFill>
                  <a:latin typeface="Century Gothic"/>
                  <a:ea typeface="Century Gothic"/>
                  <a:cs typeface="Century Gothic"/>
                  <a:sym typeface="Century Gothic"/>
                </a:rPr>
                <a:t>Permite extraer propiedades comúnes de varias entidades (o relaciones) y generar una superentidad que las contenga	</a:t>
              </a:r>
              <a:endParaRPr/>
            </a:p>
            <a:p>
              <a:pPr indent="-285750" lvl="1" marL="285750" marR="0" rtl="0" algn="l">
                <a:lnSpc>
                  <a:spcPct val="90000"/>
                </a:lnSpc>
                <a:spcBef>
                  <a:spcPts val="580"/>
                </a:spcBef>
                <a:spcAft>
                  <a:spcPts val="0"/>
                </a:spcAft>
                <a:buClr>
                  <a:schemeClr val="dk1"/>
                </a:buClr>
                <a:buSzPts val="2900"/>
                <a:buFont typeface="Century Gothic"/>
                <a:buChar char="•"/>
              </a:pPr>
              <a:r>
                <a:rPr b="0" i="0" lang="es-AR" sz="2900" u="none" cap="none" strike="noStrike">
                  <a:solidFill>
                    <a:schemeClr val="dk1"/>
                  </a:solidFill>
                  <a:latin typeface="Century Gothic"/>
                  <a:ea typeface="Century Gothic"/>
                  <a:cs typeface="Century Gothic"/>
                  <a:sym typeface="Century Gothic"/>
                </a:rPr>
                <a:t>Cobertura:</a:t>
              </a:r>
              <a:endParaRPr/>
            </a:p>
            <a:p>
              <a:pPr indent="-285750" lvl="2" marL="571500" marR="0" rtl="0" algn="l">
                <a:lnSpc>
                  <a:spcPct val="90000"/>
                </a:lnSpc>
                <a:spcBef>
                  <a:spcPts val="580"/>
                </a:spcBef>
                <a:spcAft>
                  <a:spcPts val="0"/>
                </a:spcAft>
                <a:buClr>
                  <a:schemeClr val="dk1"/>
                </a:buClr>
                <a:buSzPts val="2900"/>
                <a:buFont typeface="Century Gothic"/>
                <a:buChar char="•"/>
              </a:pPr>
              <a:r>
                <a:rPr b="0" i="0" lang="es-AR" sz="2900" u="none" cap="none" strike="noStrike">
                  <a:solidFill>
                    <a:schemeClr val="dk1"/>
                  </a:solidFill>
                  <a:latin typeface="Century Gothic"/>
                  <a:ea typeface="Century Gothic"/>
                  <a:cs typeface="Century Gothic"/>
                  <a:sym typeface="Century Gothic"/>
                </a:rPr>
                <a:t>Total o parcial</a:t>
              </a:r>
              <a:endParaRPr/>
            </a:p>
            <a:p>
              <a:pPr indent="-285750" lvl="2" marL="571500" marR="0" rtl="0" algn="l">
                <a:lnSpc>
                  <a:spcPct val="90000"/>
                </a:lnSpc>
                <a:spcBef>
                  <a:spcPts val="580"/>
                </a:spcBef>
                <a:spcAft>
                  <a:spcPts val="0"/>
                </a:spcAft>
                <a:buClr>
                  <a:schemeClr val="dk1"/>
                </a:buClr>
                <a:buSzPts val="2900"/>
                <a:buFont typeface="Century Gothic"/>
                <a:buChar char="•"/>
              </a:pPr>
              <a:r>
                <a:rPr b="0" i="0" lang="es-AR" sz="2900" u="none" cap="none" strike="noStrike">
                  <a:solidFill>
                    <a:schemeClr val="dk1"/>
                  </a:solidFill>
                  <a:latin typeface="Century Gothic"/>
                  <a:ea typeface="Century Gothic"/>
                  <a:cs typeface="Century Gothic"/>
                  <a:sym typeface="Century Gothic"/>
                </a:rPr>
                <a:t>Superpuesta o exclusiva</a:t>
              </a:r>
              <a:endParaRPr/>
            </a:p>
          </p:txBody>
        </p:sp>
      </p:grpSp>
      <p:sp>
        <p:nvSpPr>
          <p:cNvPr id="236" name="Google Shape;236;p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DBD  - CLASE 1</a:t>
            </a:r>
            <a:endParaRPr/>
          </a:p>
        </p:txBody>
      </p:sp>
      <p:sp>
        <p:nvSpPr>
          <p:cNvPr id="237" name="Google Shape;237;p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pic>
        <p:nvPicPr>
          <p:cNvPr id="238" name="Google Shape;238;p6"/>
          <p:cNvPicPr preferRelativeResize="0"/>
          <p:nvPr/>
        </p:nvPicPr>
        <p:blipFill rotWithShape="1">
          <a:blip r:embed="rId3">
            <a:alphaModFix/>
          </a:blip>
          <a:srcRect b="0" l="0" r="0" t="0"/>
          <a:stretch/>
        </p:blipFill>
        <p:spPr>
          <a:xfrm>
            <a:off x="7153267" y="3764379"/>
            <a:ext cx="4494781" cy="3135016"/>
          </a:xfrm>
          <a:prstGeom prst="rect">
            <a:avLst/>
          </a:prstGeom>
          <a:noFill/>
          <a:ln>
            <a:noFill/>
          </a:ln>
        </p:spPr>
      </p:pic>
      <p:pic>
        <p:nvPicPr>
          <p:cNvPr descr="c2_6" id="239" name="Google Shape;239;p6"/>
          <p:cNvPicPr preferRelativeResize="0"/>
          <p:nvPr/>
        </p:nvPicPr>
        <p:blipFill rotWithShape="1">
          <a:blip r:embed="rId4">
            <a:alphaModFix/>
          </a:blip>
          <a:srcRect b="0" l="0" r="0" t="0"/>
          <a:stretch/>
        </p:blipFill>
        <p:spPr>
          <a:xfrm>
            <a:off x="631898" y="2345934"/>
            <a:ext cx="812800" cy="812800"/>
          </a:xfrm>
          <a:prstGeom prst="rect">
            <a:avLst/>
          </a:prstGeom>
          <a:noFill/>
          <a:ln>
            <a:noFill/>
          </a:ln>
        </p:spPr>
      </p:pic>
      <p:pic>
        <p:nvPicPr>
          <p:cNvPr descr="c2_6_2" id="240" name="Google Shape;240;p6"/>
          <p:cNvPicPr preferRelativeResize="0"/>
          <p:nvPr/>
        </p:nvPicPr>
        <p:blipFill rotWithShape="1">
          <a:blip r:embed="rId4">
            <a:alphaModFix/>
          </a:blip>
          <a:srcRect b="0" l="0" r="0" t="0"/>
          <a:stretch/>
        </p:blipFill>
        <p:spPr>
          <a:xfrm>
            <a:off x="631898" y="3945361"/>
            <a:ext cx="812800" cy="812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Modelo Conceptual ER</a:t>
            </a:r>
            <a:endParaRPr/>
          </a:p>
        </p:txBody>
      </p:sp>
      <p:sp>
        <p:nvSpPr>
          <p:cNvPr id="246" name="Google Shape;246;p7"/>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s-AR" sz="2800"/>
              <a:t>Subconjunto</a:t>
            </a:r>
            <a:endParaRPr/>
          </a:p>
          <a:p>
            <a:pPr indent="-285750" lvl="1" marL="742950" rtl="0" algn="l">
              <a:spcBef>
                <a:spcPts val="1000"/>
              </a:spcBef>
              <a:spcAft>
                <a:spcPts val="0"/>
              </a:spcAft>
              <a:buSzPts val="2400"/>
              <a:buChar char="🠶"/>
            </a:pPr>
            <a:r>
              <a:rPr lang="es-AR" sz="2400"/>
              <a:t>Cuando una jerarquía presenta un solo conjunto de entidades como hijo,  entonces se habla de subconjunto</a:t>
            </a:r>
            <a:endParaRPr/>
          </a:p>
          <a:p>
            <a:pPr indent="-285750" lvl="1" marL="742950" rtl="0" algn="l">
              <a:spcBef>
                <a:spcPts val="1000"/>
              </a:spcBef>
              <a:spcAft>
                <a:spcPts val="0"/>
              </a:spcAft>
              <a:buSzPts val="2400"/>
              <a:buChar char="🠶"/>
            </a:pPr>
            <a:r>
              <a:rPr lang="es-AR" sz="2400"/>
              <a:t>La cobertura de un  subconjunto es parcial exclusiva unicamente</a:t>
            </a:r>
            <a:endParaRPr/>
          </a:p>
        </p:txBody>
      </p:sp>
      <p:sp>
        <p:nvSpPr>
          <p:cNvPr id="247" name="Google Shape;247;p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DBD  - CLASE 1</a:t>
            </a:r>
            <a:endParaRPr/>
          </a:p>
        </p:txBody>
      </p:sp>
      <p:sp>
        <p:nvSpPr>
          <p:cNvPr id="248" name="Google Shape;248;p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pic>
        <p:nvPicPr>
          <p:cNvPr descr="c2_7" id="249" name="Google Shape;249;p7"/>
          <p:cNvPicPr preferRelativeResize="0"/>
          <p:nvPr/>
        </p:nvPicPr>
        <p:blipFill rotWithShape="1">
          <a:blip r:embed="rId3">
            <a:alphaModFix/>
          </a:blip>
          <a:srcRect b="0" l="0" r="0" t="0"/>
          <a:stretch/>
        </p:blipFill>
        <p:spPr>
          <a:xfrm>
            <a:off x="1093975" y="3616013"/>
            <a:ext cx="812800" cy="812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8"/>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Modelo Conceptual ER</a:t>
            </a:r>
            <a:endParaRPr/>
          </a:p>
        </p:txBody>
      </p:sp>
      <p:sp>
        <p:nvSpPr>
          <p:cNvPr id="255" name="Google Shape;255;p8"/>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1800"/>
              <a:buChar char="🠶"/>
            </a:pPr>
            <a:r>
              <a:rPr lang="es-AR"/>
              <a:t>Atributos derivados</a:t>
            </a:r>
            <a:endParaRPr/>
          </a:p>
          <a:p>
            <a:pPr indent="-285750" lvl="1" marL="742950" rtl="0" algn="l">
              <a:lnSpc>
                <a:spcPct val="90000"/>
              </a:lnSpc>
              <a:spcBef>
                <a:spcPts val="1000"/>
              </a:spcBef>
              <a:spcAft>
                <a:spcPts val="0"/>
              </a:spcAft>
              <a:buSzPts val="1600"/>
              <a:buChar char="🠶"/>
            </a:pPr>
            <a:r>
              <a:rPr lang="es-AR"/>
              <a:t>Aparece en un conjunto de entidades y representa información que se puede obtener de otra forma</a:t>
            </a:r>
            <a:endParaRPr/>
          </a:p>
          <a:p>
            <a:pPr indent="-285750" lvl="1" marL="742950" rtl="0" algn="l">
              <a:lnSpc>
                <a:spcPct val="90000"/>
              </a:lnSpc>
              <a:spcBef>
                <a:spcPts val="1000"/>
              </a:spcBef>
              <a:spcAft>
                <a:spcPts val="0"/>
              </a:spcAft>
              <a:buSzPts val="1600"/>
              <a:buChar char="🠶"/>
            </a:pPr>
            <a:r>
              <a:rPr lang="es-AR"/>
              <a:t>Ejemplo:  suponga una entidad personal, una entidad departamento y una relacion pertence un empleado a un departamento y un departamento puede tener múltiples empleados.</a:t>
            </a:r>
            <a:endParaRPr/>
          </a:p>
          <a:p>
            <a:pPr indent="-228600" lvl="2" marL="1143000" rtl="0" algn="l">
              <a:lnSpc>
                <a:spcPct val="90000"/>
              </a:lnSpc>
              <a:spcBef>
                <a:spcPts val="1000"/>
              </a:spcBef>
              <a:spcAft>
                <a:spcPts val="0"/>
              </a:spcAft>
              <a:buSzPts val="1400"/>
              <a:buChar char="🠶"/>
            </a:pPr>
            <a:r>
              <a:rPr lang="es-AR"/>
              <a:t>Si en la relación se cuentan la cantidad de veces que aparece el mismo departamento, entonces se puede saber la cantidad de empleados que el departamento tiene</a:t>
            </a:r>
            <a:endParaRPr/>
          </a:p>
          <a:p>
            <a:pPr indent="-228600" lvl="2" marL="1143000" rtl="0" algn="l">
              <a:lnSpc>
                <a:spcPct val="90000"/>
              </a:lnSpc>
              <a:spcBef>
                <a:spcPts val="1000"/>
              </a:spcBef>
              <a:spcAft>
                <a:spcPts val="0"/>
              </a:spcAft>
              <a:buSzPts val="1400"/>
              <a:buChar char="🠶"/>
            </a:pPr>
            <a:r>
              <a:rPr lang="es-AR"/>
              <a:t>Si, ademas, se agrega un atributo en la entidad departamentos que contenga la cantidad de empleados,  se tiene desde dos fuentes diferentes la misma información.  Esto es un </a:t>
            </a:r>
            <a:r>
              <a:rPr b="1" lang="es-AR"/>
              <a:t>atributo derivado</a:t>
            </a:r>
            <a:r>
              <a:rPr lang="es-AR"/>
              <a:t>.  Si el atributo no esta igual la informacion se puede obtener</a:t>
            </a:r>
            <a:endParaRPr/>
          </a:p>
          <a:p>
            <a:pPr indent="-228600" lvl="2" marL="1143000" rtl="0" algn="l">
              <a:lnSpc>
                <a:spcPct val="90000"/>
              </a:lnSpc>
              <a:spcBef>
                <a:spcPts val="1000"/>
              </a:spcBef>
              <a:spcAft>
                <a:spcPts val="0"/>
              </a:spcAft>
              <a:buSzPts val="1400"/>
              <a:buChar char="🠶"/>
            </a:pPr>
            <a:r>
              <a:rPr lang="es-AR"/>
              <a:t>Ventajas y desventajas</a:t>
            </a:r>
            <a:endParaRPr/>
          </a:p>
        </p:txBody>
      </p:sp>
      <p:sp>
        <p:nvSpPr>
          <p:cNvPr id="256" name="Google Shape;256;p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DBD  - CLASE 1</a:t>
            </a:r>
            <a:endParaRPr/>
          </a:p>
        </p:txBody>
      </p:sp>
      <p:sp>
        <p:nvSpPr>
          <p:cNvPr id="257" name="Google Shape;257;p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pic>
        <p:nvPicPr>
          <p:cNvPr descr="c2_8" id="258" name="Google Shape;258;p8"/>
          <p:cNvPicPr preferRelativeResize="0"/>
          <p:nvPr/>
        </p:nvPicPr>
        <p:blipFill rotWithShape="1">
          <a:blip r:embed="rId3">
            <a:alphaModFix/>
          </a:blip>
          <a:srcRect b="0" l="0" r="0" t="0"/>
          <a:stretch/>
        </p:blipFill>
        <p:spPr>
          <a:xfrm>
            <a:off x="1311575" y="3788525"/>
            <a:ext cx="812800" cy="812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Modelo Conceptual ER</a:t>
            </a:r>
            <a:endParaRPr/>
          </a:p>
        </p:txBody>
      </p:sp>
      <p:sp>
        <p:nvSpPr>
          <p:cNvPr id="264" name="Google Shape;264;p9"/>
          <p:cNvSpPr txBox="1"/>
          <p:nvPr>
            <p:ph idx="1" type="body"/>
          </p:nvPr>
        </p:nvSpPr>
        <p:spPr>
          <a:xfrm>
            <a:off x="1019908" y="1152907"/>
            <a:ext cx="10484704" cy="4758315"/>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1665"/>
              <a:buChar char="🠶"/>
            </a:pPr>
            <a:r>
              <a:rPr lang="es-AR" sz="1665"/>
              <a:t>Ejemplo 6</a:t>
            </a:r>
            <a:endParaRPr/>
          </a:p>
          <a:p>
            <a:pPr indent="-285750" lvl="1" marL="742950" rtl="0" algn="l">
              <a:lnSpc>
                <a:spcPct val="90000"/>
              </a:lnSpc>
              <a:spcBef>
                <a:spcPts val="1000"/>
              </a:spcBef>
              <a:spcAft>
                <a:spcPts val="0"/>
              </a:spcAft>
              <a:buSzPts val="1480"/>
              <a:buChar char="🠶"/>
            </a:pPr>
            <a:r>
              <a:rPr lang="es-AR" sz="1480"/>
              <a:t>Atributo derivado (el problema de la transparencia 8) Agregamos:</a:t>
            </a:r>
            <a:endParaRPr/>
          </a:p>
          <a:p>
            <a:pPr indent="-228600" lvl="2" marL="1143000" rtl="0" algn="l">
              <a:lnSpc>
                <a:spcPct val="90000"/>
              </a:lnSpc>
              <a:spcBef>
                <a:spcPts val="1000"/>
              </a:spcBef>
              <a:spcAft>
                <a:spcPts val="0"/>
              </a:spcAft>
              <a:buSzPts val="1295"/>
              <a:buChar char="🠶"/>
            </a:pPr>
            <a:r>
              <a:rPr lang="es-AR" sz="1295"/>
              <a:t>Que el documento de un miembro de personal identifica univocamente a un empleado</a:t>
            </a:r>
            <a:endParaRPr/>
          </a:p>
          <a:p>
            <a:pPr indent="-228600" lvl="2" marL="1143000" rtl="0" algn="l">
              <a:lnSpc>
                <a:spcPct val="90000"/>
              </a:lnSpc>
              <a:spcBef>
                <a:spcPts val="1000"/>
              </a:spcBef>
              <a:spcAft>
                <a:spcPts val="0"/>
              </a:spcAft>
              <a:buSzPts val="1295"/>
              <a:buChar char="🠶"/>
            </a:pPr>
            <a:r>
              <a:rPr lang="es-AR" sz="1295"/>
              <a:t>que el numero de legajo de un empleado se otorga por departamento</a:t>
            </a:r>
            <a:endParaRPr/>
          </a:p>
          <a:p>
            <a:pPr indent="-228600" lvl="2" marL="1143000" rtl="0" algn="l">
              <a:lnSpc>
                <a:spcPct val="90000"/>
              </a:lnSpc>
              <a:spcBef>
                <a:spcPts val="1000"/>
              </a:spcBef>
              <a:spcAft>
                <a:spcPts val="0"/>
              </a:spcAft>
              <a:buSzPts val="1295"/>
              <a:buChar char="🠶"/>
            </a:pPr>
            <a:r>
              <a:rPr lang="es-AR" sz="1295"/>
              <a:t>Que todos los departamentos tienen nombre diferente</a:t>
            </a:r>
            <a:endParaRPr/>
          </a:p>
          <a:p>
            <a:pPr indent="-342900" lvl="0" marL="342900" rtl="0" algn="l">
              <a:lnSpc>
                <a:spcPct val="90000"/>
              </a:lnSpc>
              <a:spcBef>
                <a:spcPts val="1000"/>
              </a:spcBef>
              <a:spcAft>
                <a:spcPts val="0"/>
              </a:spcAft>
              <a:buSzPts val="1665"/>
              <a:buChar char="🠶"/>
            </a:pPr>
            <a:r>
              <a:rPr lang="es-AR" sz="1665"/>
              <a:t>Ejemplo 7</a:t>
            </a:r>
            <a:endParaRPr/>
          </a:p>
          <a:p>
            <a:pPr indent="-285750" lvl="1" marL="742950" rtl="0" algn="l">
              <a:lnSpc>
                <a:spcPct val="90000"/>
              </a:lnSpc>
              <a:spcBef>
                <a:spcPts val="1000"/>
              </a:spcBef>
              <a:spcAft>
                <a:spcPts val="0"/>
              </a:spcAft>
              <a:buSzPts val="1480"/>
              <a:buChar char="🠶"/>
            </a:pPr>
            <a:r>
              <a:rPr lang="es-AR" sz="1480"/>
              <a:t>Modelamos una empresa.   </a:t>
            </a:r>
            <a:endParaRPr/>
          </a:p>
          <a:p>
            <a:pPr indent="-228600" lvl="2" marL="1143000" rtl="0" algn="l">
              <a:lnSpc>
                <a:spcPct val="90000"/>
              </a:lnSpc>
              <a:spcBef>
                <a:spcPts val="1000"/>
              </a:spcBef>
              <a:spcAft>
                <a:spcPts val="0"/>
              </a:spcAft>
              <a:buSzPts val="1295"/>
              <a:buChar char="🠶"/>
            </a:pPr>
            <a:r>
              <a:rPr lang="es-AR" sz="1295"/>
              <a:t>En la empresa hay operarios. De cada operario se conoce el nombre y apellido, dni, numero de empleado, direccion, titulos que puede tener un empleado.</a:t>
            </a:r>
            <a:endParaRPr/>
          </a:p>
          <a:p>
            <a:pPr indent="-228600" lvl="2" marL="1143000" rtl="0" algn="l">
              <a:lnSpc>
                <a:spcPct val="90000"/>
              </a:lnSpc>
              <a:spcBef>
                <a:spcPts val="1000"/>
              </a:spcBef>
              <a:spcAft>
                <a:spcPts val="0"/>
              </a:spcAft>
              <a:buSzPts val="1295"/>
              <a:buChar char="🠶"/>
            </a:pPr>
            <a:r>
              <a:rPr lang="es-AR" sz="1295"/>
              <a:t>En la empresa hay secretarios.  De cada operario se conoce el nombre y apellido, dni, numero de empleado, ,direccion,  idiomas que maneja, </a:t>
            </a:r>
            <a:endParaRPr/>
          </a:p>
          <a:p>
            <a:pPr indent="-228600" lvl="2" marL="1143000" rtl="0" algn="l">
              <a:lnSpc>
                <a:spcPct val="90000"/>
              </a:lnSpc>
              <a:spcBef>
                <a:spcPts val="1000"/>
              </a:spcBef>
              <a:spcAft>
                <a:spcPts val="0"/>
              </a:spcAft>
              <a:buSzPts val="1295"/>
              <a:buChar char="🠶"/>
            </a:pPr>
            <a:r>
              <a:rPr lang="es-AR" sz="1295"/>
              <a:t>Hay directivos.  De cada directivo se conoce el nombre y apellido, documento,direccion,  numero de empleados a cargo.</a:t>
            </a:r>
            <a:endParaRPr/>
          </a:p>
          <a:p>
            <a:pPr indent="-228600" lvl="2" marL="1143000" rtl="0" algn="l">
              <a:lnSpc>
                <a:spcPct val="90000"/>
              </a:lnSpc>
              <a:spcBef>
                <a:spcPts val="1000"/>
              </a:spcBef>
              <a:spcAft>
                <a:spcPts val="0"/>
              </a:spcAft>
              <a:buSzPts val="1295"/>
              <a:buChar char="🠶"/>
            </a:pPr>
            <a:r>
              <a:rPr lang="es-AR" sz="1295"/>
              <a:t>Cada empleado de la empresa tiene una obra social.  Las obras sociales que cada empleado puede tener, esta determinada por su Jerarquia (operario, secretario, directivo).  De cada obra social se conoce el nombre. </a:t>
            </a:r>
            <a:endParaRPr/>
          </a:p>
          <a:p>
            <a:pPr indent="-228600" lvl="2" marL="1143000" rtl="0" algn="l">
              <a:lnSpc>
                <a:spcPct val="90000"/>
              </a:lnSpc>
              <a:spcBef>
                <a:spcPts val="1000"/>
              </a:spcBef>
              <a:spcAft>
                <a:spcPts val="0"/>
              </a:spcAft>
              <a:buSzPts val="1295"/>
              <a:buChar char="🠶"/>
            </a:pPr>
            <a:r>
              <a:rPr lang="es-AR" sz="1295"/>
              <a:t>Los directivos son jefes de los demas empleados.  Puede ocurrir que un directivo sea ademas jefe de otro directivo y en ningun caso un empleado puede tener mas de un jefe.</a:t>
            </a:r>
            <a:endParaRPr/>
          </a:p>
        </p:txBody>
      </p:sp>
      <p:sp>
        <p:nvSpPr>
          <p:cNvPr id="265" name="Google Shape;265;p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DBD  - CLASE 1</a:t>
            </a:r>
            <a:endParaRPr/>
          </a:p>
        </p:txBody>
      </p:sp>
      <p:sp>
        <p:nvSpPr>
          <p:cNvPr id="266" name="Google Shape;266;p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pic>
        <p:nvPicPr>
          <p:cNvPr descr="c2_9" id="267" name="Google Shape;267;p9"/>
          <p:cNvPicPr preferRelativeResize="0"/>
          <p:nvPr/>
        </p:nvPicPr>
        <p:blipFill rotWithShape="1">
          <a:blip r:embed="rId3">
            <a:alphaModFix/>
          </a:blip>
          <a:srcRect b="0" l="0" r="0" t="0"/>
          <a:stretch/>
        </p:blipFill>
        <p:spPr>
          <a:xfrm>
            <a:off x="5689600" y="3022600"/>
            <a:ext cx="812800" cy="812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Modelo Conceptual ER</a:t>
            </a:r>
            <a:endParaRPr/>
          </a:p>
        </p:txBody>
      </p:sp>
      <p:sp>
        <p:nvSpPr>
          <p:cNvPr id="273" name="Google Shape;273;p10"/>
          <p:cNvSpPr txBox="1"/>
          <p:nvPr>
            <p:ph idx="1" type="body"/>
          </p:nvPr>
        </p:nvSpPr>
        <p:spPr>
          <a:xfrm>
            <a:off x="1934308" y="1535723"/>
            <a:ext cx="9570304" cy="43754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1530"/>
              <a:buChar char="🠶"/>
            </a:pPr>
            <a:r>
              <a:rPr lang="es-AR" sz="1530"/>
              <a:t>Ejemplo 8</a:t>
            </a:r>
            <a:endParaRPr/>
          </a:p>
          <a:p>
            <a:pPr indent="-285750" lvl="1" marL="742950" rtl="0" algn="l">
              <a:lnSpc>
                <a:spcPct val="90000"/>
              </a:lnSpc>
              <a:spcBef>
                <a:spcPts val="1000"/>
              </a:spcBef>
              <a:spcAft>
                <a:spcPts val="0"/>
              </a:spcAft>
              <a:buSzPts val="1360"/>
              <a:buChar char="🠶"/>
            </a:pPr>
            <a:r>
              <a:rPr lang="es-AR" sz="1360"/>
              <a:t>Modelar un problema de facturacion</a:t>
            </a:r>
            <a:endParaRPr/>
          </a:p>
          <a:p>
            <a:pPr indent="-228600" lvl="2" marL="1143000" rtl="0" algn="l">
              <a:lnSpc>
                <a:spcPct val="90000"/>
              </a:lnSpc>
              <a:spcBef>
                <a:spcPts val="1000"/>
              </a:spcBef>
              <a:spcAft>
                <a:spcPts val="0"/>
              </a:spcAft>
              <a:buSzPts val="1190"/>
              <a:buChar char="🠶"/>
            </a:pPr>
            <a:r>
              <a:rPr lang="es-AR" sz="1190"/>
              <a:t>De cada factura se conoce el tipo y numero (lo cual genera un identificador), la fecha el cliente al que corresponde y el monto total facturado</a:t>
            </a:r>
            <a:endParaRPr/>
          </a:p>
          <a:p>
            <a:pPr indent="-228600" lvl="2" marL="1143000" rtl="0" algn="l">
              <a:lnSpc>
                <a:spcPct val="90000"/>
              </a:lnSpc>
              <a:spcBef>
                <a:spcPts val="1000"/>
              </a:spcBef>
              <a:spcAft>
                <a:spcPts val="0"/>
              </a:spcAft>
              <a:buSzPts val="1190"/>
              <a:buChar char="🠶"/>
            </a:pPr>
            <a:r>
              <a:rPr lang="es-AR" sz="1190"/>
              <a:t>Cada factura tiene renglones.  En cada renglon se determina que producto se vende, la cantidad vendida y el costo unitario del producto vendido.</a:t>
            </a:r>
            <a:endParaRPr/>
          </a:p>
          <a:p>
            <a:pPr indent="-228600" lvl="2" marL="1143000" rtl="0" algn="l">
              <a:lnSpc>
                <a:spcPct val="90000"/>
              </a:lnSpc>
              <a:spcBef>
                <a:spcPts val="1000"/>
              </a:spcBef>
              <a:spcAft>
                <a:spcPts val="0"/>
              </a:spcAft>
              <a:buSzPts val="1190"/>
              <a:buChar char="🠶"/>
            </a:pPr>
            <a:r>
              <a:rPr lang="es-AR" sz="1190"/>
              <a:t>Los productos tiene un codigo de barras, un nombre comercial, un stock actual   y un precio de venta.</a:t>
            </a:r>
            <a:endParaRPr/>
          </a:p>
          <a:p>
            <a:pPr indent="-228600" lvl="2" marL="1143000" rtl="0" algn="l">
              <a:lnSpc>
                <a:spcPct val="90000"/>
              </a:lnSpc>
              <a:spcBef>
                <a:spcPts val="1000"/>
              </a:spcBef>
              <a:spcAft>
                <a:spcPts val="0"/>
              </a:spcAft>
              <a:buSzPts val="1190"/>
              <a:buChar char="🠶"/>
            </a:pPr>
            <a:r>
              <a:rPr lang="es-AR" sz="1190"/>
              <a:t>De los clientes se sabe el nombre apellido y telefonos</a:t>
            </a:r>
            <a:endParaRPr/>
          </a:p>
          <a:p>
            <a:pPr indent="-228600" lvl="2" marL="1143000" rtl="0" algn="l">
              <a:lnSpc>
                <a:spcPct val="90000"/>
              </a:lnSpc>
              <a:spcBef>
                <a:spcPts val="1000"/>
              </a:spcBef>
              <a:spcAft>
                <a:spcPts val="0"/>
              </a:spcAft>
              <a:buSzPts val="1190"/>
              <a:buChar char="🠶"/>
            </a:pPr>
            <a:r>
              <a:rPr lang="es-AR" sz="1190"/>
              <a:t>Se sabe ademas que:</a:t>
            </a:r>
            <a:endParaRPr/>
          </a:p>
          <a:p>
            <a:pPr indent="-228600" lvl="3" marL="1600200" rtl="0" algn="l">
              <a:lnSpc>
                <a:spcPct val="90000"/>
              </a:lnSpc>
              <a:spcBef>
                <a:spcPts val="1000"/>
              </a:spcBef>
              <a:spcAft>
                <a:spcPts val="0"/>
              </a:spcAft>
              <a:buSzPts val="1020"/>
              <a:buChar char="🠶"/>
            </a:pPr>
            <a:r>
              <a:rPr lang="es-AR" sz="1020"/>
              <a:t>Un cliente puede tener una o varias compras realizadas.</a:t>
            </a:r>
            <a:endParaRPr/>
          </a:p>
          <a:p>
            <a:pPr indent="-228600" lvl="3" marL="1600200" rtl="0" algn="l">
              <a:lnSpc>
                <a:spcPct val="90000"/>
              </a:lnSpc>
              <a:spcBef>
                <a:spcPts val="1000"/>
              </a:spcBef>
              <a:spcAft>
                <a:spcPts val="0"/>
              </a:spcAft>
              <a:buSzPts val="1020"/>
              <a:buChar char="🠶"/>
            </a:pPr>
            <a:r>
              <a:rPr lang="es-AR" sz="1020"/>
              <a:t>Que cada compra esta ligada a un unico cliente</a:t>
            </a:r>
            <a:endParaRPr/>
          </a:p>
          <a:p>
            <a:pPr indent="-228600" lvl="3" marL="1600200" rtl="0" algn="l">
              <a:lnSpc>
                <a:spcPct val="90000"/>
              </a:lnSpc>
              <a:spcBef>
                <a:spcPts val="1000"/>
              </a:spcBef>
              <a:spcAft>
                <a:spcPts val="0"/>
              </a:spcAft>
              <a:buSzPts val="1020"/>
              <a:buChar char="🠶"/>
            </a:pPr>
            <a:r>
              <a:rPr lang="es-AR" sz="1020"/>
              <a:t>Que una factura puede tener multiples renglones</a:t>
            </a:r>
            <a:endParaRPr/>
          </a:p>
          <a:p>
            <a:pPr indent="-228600" lvl="3" marL="1600200" rtl="0" algn="l">
              <a:lnSpc>
                <a:spcPct val="90000"/>
              </a:lnSpc>
              <a:spcBef>
                <a:spcPts val="1000"/>
              </a:spcBef>
              <a:spcAft>
                <a:spcPts val="0"/>
              </a:spcAft>
              <a:buSzPts val="1020"/>
              <a:buChar char="🠶"/>
            </a:pPr>
            <a:r>
              <a:rPr lang="es-AR" sz="1020"/>
              <a:t>Que en cada renglon solo se puede vender un producto. Ojo con esto  se pueden vender varias unidades pero DEL MISMO UNICO producto.</a:t>
            </a:r>
            <a:endParaRPr/>
          </a:p>
          <a:p>
            <a:pPr indent="-228600" lvl="3" marL="1600200" rtl="0" algn="l">
              <a:lnSpc>
                <a:spcPct val="90000"/>
              </a:lnSpc>
              <a:spcBef>
                <a:spcPts val="1000"/>
              </a:spcBef>
              <a:spcAft>
                <a:spcPts val="0"/>
              </a:spcAft>
              <a:buSzPts val="1020"/>
              <a:buChar char="🠶"/>
            </a:pPr>
            <a:r>
              <a:rPr lang="es-AR" sz="1020"/>
              <a:t>Que en una factura un producto vendido solo puede aparecer una vez. Esto es,  no puede ocurrir que un renglon de la factura se vendan huevos y en otro renglon se vuelvan a vender huevos.</a:t>
            </a:r>
            <a:endParaRPr/>
          </a:p>
          <a:p>
            <a:pPr indent="-228600" lvl="3" marL="1600200" rtl="0" algn="l">
              <a:lnSpc>
                <a:spcPct val="90000"/>
              </a:lnSpc>
              <a:spcBef>
                <a:spcPts val="1000"/>
              </a:spcBef>
              <a:spcAft>
                <a:spcPts val="0"/>
              </a:spcAft>
              <a:buSzPts val="1020"/>
              <a:buChar char="🠶"/>
            </a:pPr>
            <a:r>
              <a:rPr lang="es-AR" sz="1020"/>
              <a:t>Se debe arbitrar un mecanismo para que si se imprime una factura una o mil veces, todas las impresiones sean igual.</a:t>
            </a:r>
            <a:endParaRPr/>
          </a:p>
        </p:txBody>
      </p:sp>
      <p:sp>
        <p:nvSpPr>
          <p:cNvPr id="274" name="Google Shape;274;p1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DBD  - CLASE 1</a:t>
            </a:r>
            <a:endParaRPr/>
          </a:p>
        </p:txBody>
      </p:sp>
      <p:sp>
        <p:nvSpPr>
          <p:cNvPr id="275" name="Google Shape;275;p1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s-AR"/>
              <a:t>Modelo Conceptual ER</a:t>
            </a:r>
            <a:endParaRPr/>
          </a:p>
        </p:txBody>
      </p:sp>
      <p:sp>
        <p:nvSpPr>
          <p:cNvPr id="281" name="Google Shape;281;p11"/>
          <p:cNvSpPr txBox="1"/>
          <p:nvPr>
            <p:ph idx="1" type="body"/>
          </p:nvPr>
        </p:nvSpPr>
        <p:spPr>
          <a:xfrm>
            <a:off x="2264898" y="1575581"/>
            <a:ext cx="9664505" cy="47548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s-AR"/>
              <a:t>Ejemplo final integrador </a:t>
            </a:r>
            <a:r>
              <a:rPr lang="es-AR"/>
              <a:t>Creación de una BD para una empresa. Manipulamos empleados, departamentos y proyectos</a:t>
            </a:r>
            <a:endParaRPr/>
          </a:p>
          <a:p>
            <a:pPr indent="-495300" lvl="1" marL="952500" rtl="0" algn="l">
              <a:lnSpc>
                <a:spcPct val="80000"/>
              </a:lnSpc>
              <a:spcBef>
                <a:spcPts val="1000"/>
              </a:spcBef>
              <a:spcAft>
                <a:spcPts val="0"/>
              </a:spcAft>
              <a:buSzPts val="1700"/>
              <a:buChar char="🠶"/>
            </a:pPr>
            <a:r>
              <a:rPr lang="es-AR" sz="1700"/>
              <a:t>La empresa está organizada en departamentos. Cada departamento tiene un nombre único, un número único y un cierto empleado que lo dirige (debe indicarse la fecha desde cuando es director).  Un departamento puede estar en varios lugares</a:t>
            </a:r>
            <a:endParaRPr/>
          </a:p>
          <a:p>
            <a:pPr indent="-495300" lvl="1" marL="952500" rtl="0" algn="l">
              <a:lnSpc>
                <a:spcPct val="80000"/>
              </a:lnSpc>
              <a:spcBef>
                <a:spcPts val="1000"/>
              </a:spcBef>
              <a:spcAft>
                <a:spcPts val="0"/>
              </a:spcAft>
              <a:buSzPts val="1700"/>
              <a:buChar char="🠶"/>
            </a:pPr>
            <a:r>
              <a:rPr lang="es-AR" sz="1700"/>
              <a:t>Cada departamento controla un cierto número de proyectos, cada uno de los cuales tiene un nombre y número único y se lleva a cabo en un único lugar.</a:t>
            </a:r>
            <a:endParaRPr/>
          </a:p>
          <a:p>
            <a:pPr indent="-495300" lvl="1" marL="952500" rtl="0" algn="l">
              <a:lnSpc>
                <a:spcPct val="80000"/>
              </a:lnSpc>
              <a:spcBef>
                <a:spcPts val="1000"/>
              </a:spcBef>
              <a:spcAft>
                <a:spcPts val="0"/>
              </a:spcAft>
              <a:buSzPts val="1700"/>
              <a:buChar char="🠶"/>
            </a:pPr>
            <a:r>
              <a:rPr lang="es-AR" sz="1700"/>
              <a:t>Para cada empleado se conoce el nombre, sexo, dirección, salario fecha de nacimiento, número de dni (irrepetible).  Todo empleado está asignado a un departamento, pero puede trabajar en varios proyectos. Interesa conocer el número de horas semanales que cada empleado le dedica a cada proyecto. Es importante conocer el jefe de cada empleado.</a:t>
            </a:r>
            <a:endParaRPr/>
          </a:p>
          <a:p>
            <a:pPr indent="-495300" lvl="1" marL="952500" rtl="0" algn="l">
              <a:lnSpc>
                <a:spcPct val="80000"/>
              </a:lnSpc>
              <a:spcBef>
                <a:spcPts val="1000"/>
              </a:spcBef>
              <a:spcAft>
                <a:spcPts val="0"/>
              </a:spcAft>
              <a:buSzPts val="1700"/>
              <a:buChar char="🠶"/>
            </a:pPr>
            <a:r>
              <a:rPr lang="es-AR" sz="1700"/>
              <a:t>Se administra, además, datos familiares de cada empleado,  De cada familiar se guardará el nombre, el sexo, la fecha de nacimiento y parentesco con el empleado.</a:t>
            </a:r>
            <a:endParaRPr/>
          </a:p>
          <a:p>
            <a:pPr indent="-228600" lvl="0" marL="342900" rtl="0" algn="l">
              <a:spcBef>
                <a:spcPts val="1000"/>
              </a:spcBef>
              <a:spcAft>
                <a:spcPts val="0"/>
              </a:spcAft>
              <a:buSzPts val="1800"/>
              <a:buNone/>
            </a:pPr>
            <a:r>
              <a:t/>
            </a:r>
            <a:endParaRPr/>
          </a:p>
        </p:txBody>
      </p:sp>
      <p:sp>
        <p:nvSpPr>
          <p:cNvPr id="282" name="Google Shape;282;p1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DBD  - CLASE 1</a:t>
            </a:r>
            <a:endParaRPr/>
          </a:p>
        </p:txBody>
      </p:sp>
      <p:sp>
        <p:nvSpPr>
          <p:cNvPr id="283" name="Google Shape;283;p1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Espiral">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2014-08-28T15:33:23Z</dcterms:created>
  <dc:creator>Pampa</dc:creator>
</cp:coreProperties>
</file>