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Tahoma"/>
      <p:regular r:id="rId34"/>
      <p:bold r:id="rId35"/>
    </p:embeddedFont>
    <p:embeddedFont>
      <p:font typeface="Century Gothic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hSqhXqDfGUnW8omdHElUSaW2o3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bold.fntdata"/><Relationship Id="rId12" Type="http://schemas.openxmlformats.org/officeDocument/2006/relationships/slide" Target="slides/slide7.xml"/><Relationship Id="rId34" Type="http://schemas.openxmlformats.org/officeDocument/2006/relationships/font" Target="fonts/Tahoma-regular.fntdata"/><Relationship Id="rId15" Type="http://schemas.openxmlformats.org/officeDocument/2006/relationships/slide" Target="slides/slide10.xml"/><Relationship Id="rId37" Type="http://schemas.openxmlformats.org/officeDocument/2006/relationships/font" Target="fonts/CenturyGothic-bold.fntdata"/><Relationship Id="rId14" Type="http://schemas.openxmlformats.org/officeDocument/2006/relationships/slide" Target="slides/slide9.xml"/><Relationship Id="rId36" Type="http://schemas.openxmlformats.org/officeDocument/2006/relationships/font" Target="fonts/CenturyGothic-regular.fntdata"/><Relationship Id="rId17" Type="http://schemas.openxmlformats.org/officeDocument/2006/relationships/slide" Target="slides/slide12.xml"/><Relationship Id="rId39" Type="http://schemas.openxmlformats.org/officeDocument/2006/relationships/font" Target="fonts/CenturyGothic-boldItalic.fntdata"/><Relationship Id="rId16" Type="http://schemas.openxmlformats.org/officeDocument/2006/relationships/slide" Target="slides/slide11.xml"/><Relationship Id="rId38" Type="http://schemas.openxmlformats.org/officeDocument/2006/relationships/font" Target="fonts/CenturyGothic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El Obj. Ppal. De un DBMS es dar a los usuarios una VISION ABSTRACTA de los datos (ocultar los detalles de cómo se almacenan y mantienen los datos) en 3 niveles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299" name="Google Shape;2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3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2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2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3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3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34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6" name="Google Shape;76;p34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7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p3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8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8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38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3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8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8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9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9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9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9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0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0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8" name="Google Shape;118;p40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4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0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0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23" name="Google Shape;123;p40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40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1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1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8" name="Google Shape;128;p4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1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1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r la tarjeta de nombre">
  <p:cSld name="Citar la tarjeta de nombr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2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5" name="Google Shape;135;p42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6" name="Google Shape;136;p4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2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2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140" name="Google Shape;140;p4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4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dadero o falso">
  <p:cSld name="Verdadero o falso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3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3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5" name="Google Shape;145;p43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6" name="Google Shape;146;p4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4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4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4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3" name="Google Shape;153;p4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5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5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60" name="Google Shape;160;p4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D7C7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9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1" name="Google Shape;11;p29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" name="Google Shape;23;p2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4" name="Google Shape;24;p29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9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9" name="Google Shape;39;p2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2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1" name="Google Shape;41;p2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s-AR"/>
              <a:t>Diseño de Bases de Datos</a:t>
            </a:r>
            <a:endParaRPr/>
          </a:p>
        </p:txBody>
      </p:sp>
      <p:sp>
        <p:nvSpPr>
          <p:cNvPr id="170" name="Google Shape;170;p1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s-AR"/>
              <a:t>Prof.  Luciano Marrero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s-AR"/>
              <a:t>	Pablo Thomas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s-AR"/>
              <a:t>          Rodolfo Bertone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La Materia</a:t>
            </a:r>
            <a:endParaRPr/>
          </a:p>
        </p:txBody>
      </p:sp>
      <p:grpSp>
        <p:nvGrpSpPr>
          <p:cNvPr id="177" name="Google Shape;177;p2"/>
          <p:cNvGrpSpPr/>
          <p:nvPr/>
        </p:nvGrpSpPr>
        <p:grpSpPr>
          <a:xfrm>
            <a:off x="3021052" y="2135917"/>
            <a:ext cx="8051720" cy="3773614"/>
            <a:chOff x="431839" y="2317"/>
            <a:chExt cx="8051720" cy="3773614"/>
          </a:xfrm>
        </p:grpSpPr>
        <p:sp>
          <p:nvSpPr>
            <p:cNvPr id="178" name="Google Shape;178;p2"/>
            <p:cNvSpPr/>
            <p:nvPr/>
          </p:nvSpPr>
          <p:spPr>
            <a:xfrm>
              <a:off x="4331891" y="1440304"/>
              <a:ext cx="2767778" cy="658605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81776"/>
                  </a:lnTo>
                  <a:lnTo>
                    <a:pt x="120000" y="81776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5875">
              <a:solidFill>
                <a:srgbClr val="417D2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79" name="Google Shape;179;p2"/>
            <p:cNvSpPr/>
            <p:nvPr/>
          </p:nvSpPr>
          <p:spPr>
            <a:xfrm>
              <a:off x="4286171" y="1440304"/>
              <a:ext cx="91440" cy="658605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</a:path>
              </a:pathLst>
            </a:custGeom>
            <a:noFill/>
            <a:ln cap="rnd" cmpd="sng" w="15875">
              <a:solidFill>
                <a:srgbClr val="417D2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0" name="Google Shape;180;p2"/>
            <p:cNvSpPr/>
            <p:nvPr/>
          </p:nvSpPr>
          <p:spPr>
            <a:xfrm>
              <a:off x="1564112" y="1440304"/>
              <a:ext cx="2767778" cy="658605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81776"/>
                  </a:lnTo>
                  <a:lnTo>
                    <a:pt x="0" y="81776"/>
                  </a:lnTo>
                  <a:lnTo>
                    <a:pt x="0" y="120000"/>
                  </a:lnTo>
                </a:path>
              </a:pathLst>
            </a:custGeom>
            <a:noFill/>
            <a:ln cap="rnd" cmpd="sng" w="15875">
              <a:solidFill>
                <a:srgbClr val="417D2D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81" name="Google Shape;181;p2"/>
            <p:cNvSpPr/>
            <p:nvPr/>
          </p:nvSpPr>
          <p:spPr>
            <a:xfrm>
              <a:off x="3199618" y="2317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3451234" y="241352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3493351" y="283469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Contenidos básicos</a:t>
              </a: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431839" y="2098910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683455" y="2337945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725572" y="2380062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Modelado de Datos</a:t>
              </a: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199618" y="2098910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451234" y="2337945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3493351" y="2380062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SQL</a:t>
              </a: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5967397" y="2098910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6219013" y="2337945"/>
              <a:ext cx="2264546" cy="1437986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"/>
            <p:cNvSpPr txBox="1"/>
            <p:nvPr/>
          </p:nvSpPr>
          <p:spPr>
            <a:xfrm>
              <a:off x="6261130" y="2380062"/>
              <a:ext cx="2180312" cy="1353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entury Gothic"/>
                <a:buNone/>
              </a:pPr>
              <a:r>
                <a:rPr b="0" i="0" lang="es-AR" sz="2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Seguridad e Integridad de datos</a:t>
              </a:r>
              <a:endParaRPr/>
            </a:p>
          </p:txBody>
        </p:sp>
      </p:grpSp>
      <p:sp>
        <p:nvSpPr>
          <p:cNvPr id="193" name="Google Shape;193;p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194" name="Google Shape;194;p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s-AR"/>
              <a:t>Diseño de Bases de Datos	</a:t>
            </a:r>
            <a:endParaRPr/>
          </a:p>
        </p:txBody>
      </p:sp>
      <p:sp>
        <p:nvSpPr>
          <p:cNvPr id="200" name="Google Shape;200;p3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AR"/>
              <a:t>Clase 1</a:t>
            </a:r>
            <a:endParaRPr/>
          </a:p>
        </p:txBody>
      </p:sp>
      <p:sp>
        <p:nvSpPr>
          <p:cNvPr id="201" name="Google Shape;201;p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02" name="Google Shape;202;p3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Agenda</a:t>
            </a:r>
            <a:endParaRPr/>
          </a:p>
        </p:txBody>
      </p:sp>
      <p:grpSp>
        <p:nvGrpSpPr>
          <p:cNvPr id="209" name="Google Shape;209;p4"/>
          <p:cNvGrpSpPr/>
          <p:nvPr/>
        </p:nvGrpSpPr>
        <p:grpSpPr>
          <a:xfrm>
            <a:off x="2589213" y="2133600"/>
            <a:ext cx="8915400" cy="3778250"/>
            <a:chOff x="0" y="0"/>
            <a:chExt cx="8915400" cy="3778250"/>
          </a:xfrm>
        </p:grpSpPr>
        <p:sp>
          <p:nvSpPr>
            <p:cNvPr id="210" name="Google Shape;210;p4"/>
            <p:cNvSpPr/>
            <p:nvPr/>
          </p:nvSpPr>
          <p:spPr>
            <a:xfrm rot="5400000">
              <a:off x="4551172" y="-963803"/>
              <a:ext cx="3022600" cy="570585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FDECC">
                <a:alpha val="89803"/>
              </a:srgbClr>
            </a:solidFill>
            <a:ln cap="rnd" cmpd="sng" w="15875">
              <a:solidFill>
                <a:srgbClr val="CFDECC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3209545" y="525375"/>
              <a:ext cx="5558305" cy="2727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213350" spcFirstLastPara="1" rIns="213350" wrap="square" tIns="106675">
              <a:noAutofit/>
            </a:bodyPr>
            <a:lstStyle/>
            <a:p>
              <a:pPr indent="-35560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600"/>
                <a:buFont typeface="Century Gothic"/>
                <a:buChar char="•"/>
              </a:pPr>
              <a:r>
                <a:rPr b="0" i="0" lang="es-AR" sz="5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Introducción</a:t>
              </a:r>
              <a:endParaRPr/>
            </a:p>
            <a:p>
              <a:pPr indent="-355600" lvl="1" marL="28575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chemeClr val="dk1"/>
                </a:buClr>
                <a:buSzPts val="5600"/>
                <a:buFont typeface="Century Gothic"/>
                <a:buChar char="•"/>
              </a:pPr>
              <a:r>
                <a:rPr b="0" i="0" lang="es-AR" sz="5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Entidad Relación</a:t>
              </a: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0" y="0"/>
              <a:ext cx="3209544" cy="377825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156677" y="156677"/>
              <a:ext cx="2896190" cy="3464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275" lIns="148575" spcFirstLastPara="1" rIns="148575" wrap="square" tIns="7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900"/>
                <a:buFont typeface="Century Gothic"/>
                <a:buNone/>
              </a:pPr>
              <a:r>
                <a:rPr b="0" i="0" lang="es-AR" sz="3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Modelado</a:t>
              </a:r>
              <a:endParaRPr/>
            </a:p>
          </p:txBody>
        </p:sp>
      </p:grpSp>
      <p:sp>
        <p:nvSpPr>
          <p:cNvPr id="214" name="Google Shape;214;p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15" name="Google Shape;215;p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4" id="216" name="Google Shape;2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Modelado</a:t>
            </a:r>
            <a:endParaRPr/>
          </a:p>
        </p:txBody>
      </p:sp>
      <p:grpSp>
        <p:nvGrpSpPr>
          <p:cNvPr id="223" name="Google Shape;223;p5"/>
          <p:cNvGrpSpPr/>
          <p:nvPr/>
        </p:nvGrpSpPr>
        <p:grpSpPr>
          <a:xfrm>
            <a:off x="2589213" y="2133600"/>
            <a:ext cx="8915400" cy="3778250"/>
            <a:chOff x="0" y="0"/>
            <a:chExt cx="8915400" cy="3778250"/>
          </a:xfrm>
        </p:grpSpPr>
        <p:cxnSp>
          <p:nvCxnSpPr>
            <p:cNvPr id="224" name="Google Shape;224;p5"/>
            <p:cNvCxnSpPr/>
            <p:nvPr/>
          </p:nvCxnSpPr>
          <p:spPr>
            <a:xfrm>
              <a:off x="0" y="0"/>
              <a:ext cx="8915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5" name="Google Shape;225;p5"/>
            <p:cNvSpPr/>
            <p:nvPr/>
          </p:nvSpPr>
          <p:spPr>
            <a:xfrm>
              <a:off x="0" y="0"/>
              <a:ext cx="1783080" cy="377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5"/>
            <p:cNvSpPr txBox="1"/>
            <p:nvPr/>
          </p:nvSpPr>
          <p:spPr>
            <a:xfrm>
              <a:off x="0" y="0"/>
              <a:ext cx="1783080" cy="377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entury Gothic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Abstracciones:</a:t>
              </a:r>
              <a:endParaRPr b="0" i="0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1916811" y="59035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5"/>
            <p:cNvSpPr txBox="1"/>
            <p:nvPr/>
          </p:nvSpPr>
          <p:spPr>
            <a:xfrm>
              <a:off x="1916811" y="59035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None/>
              </a:pPr>
              <a:r>
                <a:rPr b="1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Visión:</a:t>
              </a: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ve solo los datos de interes (muchas vistas para la misma BD) a través de prg de aplicación.</a:t>
              </a:r>
              <a:endParaRPr b="0" i="0" sz="2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29" name="Google Shape;229;p5"/>
            <p:cNvCxnSpPr/>
            <p:nvPr/>
          </p:nvCxnSpPr>
          <p:spPr>
            <a:xfrm>
              <a:off x="1783080" y="1239738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0" name="Google Shape;230;p5"/>
            <p:cNvSpPr/>
            <p:nvPr/>
          </p:nvSpPr>
          <p:spPr>
            <a:xfrm>
              <a:off x="1916811" y="1298773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1916811" y="1298773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None/>
              </a:pPr>
              <a:r>
                <a:rPr b="1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Conceptual:</a:t>
              </a: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r>
                <a:rPr b="1" i="1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qué</a:t>
              </a: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datos se almacenan en la BD y </a:t>
              </a:r>
              <a:r>
                <a:rPr b="1" i="1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qué</a:t>
              </a: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relaciones existen entre ellos</a:t>
              </a:r>
              <a:endParaRPr b="0" i="0" sz="2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32" name="Google Shape;232;p5"/>
            <p:cNvCxnSpPr/>
            <p:nvPr/>
          </p:nvCxnSpPr>
          <p:spPr>
            <a:xfrm>
              <a:off x="1783080" y="2479476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5"/>
            <p:cNvSpPr/>
            <p:nvPr/>
          </p:nvSpPr>
          <p:spPr>
            <a:xfrm>
              <a:off x="1916811" y="2538511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5"/>
            <p:cNvSpPr txBox="1"/>
            <p:nvPr/>
          </p:nvSpPr>
          <p:spPr>
            <a:xfrm>
              <a:off x="1916811" y="2538511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None/>
              </a:pPr>
              <a:r>
                <a:rPr b="1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Físico:</a:t>
              </a: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describe </a:t>
              </a:r>
              <a:r>
                <a:rPr b="1" i="1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cómo</a:t>
              </a: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se almacenan realmente los datos (archivos y hardware)</a:t>
              </a:r>
              <a:endParaRPr/>
            </a:p>
          </p:txBody>
        </p:sp>
        <p:cxnSp>
          <p:nvCxnSpPr>
            <p:cNvPr id="235" name="Google Shape;235;p5"/>
            <p:cNvCxnSpPr/>
            <p:nvPr/>
          </p:nvCxnSpPr>
          <p:spPr>
            <a:xfrm>
              <a:off x="1783080" y="3719214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6" name="Google Shape;236;p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37" name="Google Shape;237;p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38" name="Google Shape;238;p5"/>
          <p:cNvGrpSpPr/>
          <p:nvPr/>
        </p:nvGrpSpPr>
        <p:grpSpPr>
          <a:xfrm>
            <a:off x="164205" y="4291133"/>
            <a:ext cx="4419600" cy="2209800"/>
            <a:chOff x="3886200" y="3962400"/>
            <a:chExt cx="4419600" cy="2209800"/>
          </a:xfrm>
        </p:grpSpPr>
        <p:sp>
          <p:nvSpPr>
            <p:cNvPr id="239" name="Google Shape;239;p5"/>
            <p:cNvSpPr/>
            <p:nvPr/>
          </p:nvSpPr>
          <p:spPr>
            <a:xfrm>
              <a:off x="3886200" y="3962400"/>
              <a:ext cx="990600" cy="4572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Vista 1</a:t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5181600" y="5715000"/>
              <a:ext cx="2438400" cy="4572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Nivel fisico</a:t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5181600" y="4953000"/>
              <a:ext cx="2438400" cy="4572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Nivel conceptual</a:t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7315200" y="3962400"/>
              <a:ext cx="990600" cy="4572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Vista n</a:t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5105400" y="3962400"/>
              <a:ext cx="990600" cy="4572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Vista 2</a:t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44" name="Google Shape;244;p5"/>
            <p:cNvCxnSpPr/>
            <p:nvPr/>
          </p:nvCxnSpPr>
          <p:spPr>
            <a:xfrm>
              <a:off x="4343400" y="4419600"/>
              <a:ext cx="20574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5" name="Google Shape;245;p5"/>
            <p:cNvCxnSpPr/>
            <p:nvPr/>
          </p:nvCxnSpPr>
          <p:spPr>
            <a:xfrm>
              <a:off x="5715000" y="4419600"/>
              <a:ext cx="6858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6" name="Google Shape;246;p5"/>
            <p:cNvCxnSpPr/>
            <p:nvPr/>
          </p:nvCxnSpPr>
          <p:spPr>
            <a:xfrm flipH="1">
              <a:off x="6400800" y="4419600"/>
              <a:ext cx="12192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47" name="Google Shape;247;p5"/>
            <p:cNvCxnSpPr/>
            <p:nvPr/>
          </p:nvCxnSpPr>
          <p:spPr>
            <a:xfrm>
              <a:off x="6400800" y="5410200"/>
              <a:ext cx="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pic>
        <p:nvPicPr>
          <p:cNvPr descr="c2_5" id="248" name="Google Shape;2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Modelado</a:t>
            </a:r>
            <a:endParaRPr/>
          </a:p>
        </p:txBody>
      </p:sp>
      <p:grpSp>
        <p:nvGrpSpPr>
          <p:cNvPr id="254" name="Google Shape;254;p6"/>
          <p:cNvGrpSpPr/>
          <p:nvPr/>
        </p:nvGrpSpPr>
        <p:grpSpPr>
          <a:xfrm>
            <a:off x="3899533" y="2134297"/>
            <a:ext cx="6294759" cy="3776855"/>
            <a:chOff x="1310320" y="697"/>
            <a:chExt cx="6294759" cy="3776855"/>
          </a:xfrm>
        </p:grpSpPr>
        <p:sp>
          <p:nvSpPr>
            <p:cNvPr id="255" name="Google Shape;255;p6"/>
            <p:cNvSpPr/>
            <p:nvPr/>
          </p:nvSpPr>
          <p:spPr>
            <a:xfrm>
              <a:off x="1310320" y="697"/>
              <a:ext cx="6294759" cy="3776855"/>
            </a:xfrm>
            <a:prstGeom prst="rect">
              <a:avLst/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6"/>
            <p:cNvSpPr txBox="1"/>
            <p:nvPr/>
          </p:nvSpPr>
          <p:spPr>
            <a:xfrm>
              <a:off x="1310320" y="697"/>
              <a:ext cx="6294759" cy="37768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350" lIns="133350" spcFirstLastPara="1" rIns="133350" wrap="square" tIns="133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00"/>
                <a:buFont typeface="Century Gothic"/>
                <a:buNone/>
              </a:pPr>
              <a:r>
                <a:rPr b="0" i="0" lang="es-AR" sz="3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Colección de herramientas conceptuales para describir datos, relaciones entre ellos, semántica asociada a los datos y restricciones de consistencia</a:t>
              </a:r>
              <a:endParaRPr b="0" i="0" sz="3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57" name="Google Shape;257;p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58" name="Google Shape;258;p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6" id="259" name="Google Shape;2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Modelado</a:t>
            </a:r>
            <a:endParaRPr/>
          </a:p>
        </p:txBody>
      </p:sp>
      <p:grpSp>
        <p:nvGrpSpPr>
          <p:cNvPr id="265" name="Google Shape;265;p7"/>
          <p:cNvGrpSpPr/>
          <p:nvPr/>
        </p:nvGrpSpPr>
        <p:grpSpPr>
          <a:xfrm>
            <a:off x="2009104" y="1455313"/>
            <a:ext cx="9903854" cy="4680494"/>
            <a:chOff x="0" y="0"/>
            <a:chExt cx="9903854" cy="4680494"/>
          </a:xfrm>
        </p:grpSpPr>
        <p:cxnSp>
          <p:nvCxnSpPr>
            <p:cNvPr id="266" name="Google Shape;266;p7"/>
            <p:cNvCxnSpPr/>
            <p:nvPr/>
          </p:nvCxnSpPr>
          <p:spPr>
            <a:xfrm>
              <a:off x="0" y="0"/>
              <a:ext cx="9903854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7" name="Google Shape;267;p7"/>
            <p:cNvSpPr/>
            <p:nvPr/>
          </p:nvSpPr>
          <p:spPr>
            <a:xfrm>
              <a:off x="0" y="0"/>
              <a:ext cx="1980770" cy="4680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7"/>
            <p:cNvSpPr txBox="1"/>
            <p:nvPr/>
          </p:nvSpPr>
          <p:spPr>
            <a:xfrm>
              <a:off x="0" y="0"/>
              <a:ext cx="1980770" cy="4680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entury Gothic"/>
                <a:buNone/>
              </a:pPr>
              <a:r>
                <a:rPr b="1" i="0" lang="es-AR" sz="32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Modelos</a:t>
              </a:r>
              <a:endPara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2129328" y="73132"/>
              <a:ext cx="3812983" cy="1462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2129328" y="73132"/>
              <a:ext cx="3812983" cy="1462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entury Gothic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Basado en objetos</a:t>
              </a:r>
              <a:r>
                <a:rPr b="0" i="0" lang="es-AR" sz="1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(visión, conceptual). Estructura flexible, especifican restricciones explícitamente</a:t>
              </a:r>
              <a:endParaRPr b="0" i="0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6090870" y="73132"/>
              <a:ext cx="3812983" cy="731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6090870" y="73132"/>
              <a:ext cx="3812983" cy="731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Modelo de Entidad-Relación    </a:t>
              </a:r>
              <a:endPara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73" name="Google Shape;273;p7"/>
            <p:cNvCxnSpPr/>
            <p:nvPr/>
          </p:nvCxnSpPr>
          <p:spPr>
            <a:xfrm>
              <a:off x="5942312" y="804460"/>
              <a:ext cx="3812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4" name="Google Shape;274;p7"/>
            <p:cNvSpPr/>
            <p:nvPr/>
          </p:nvSpPr>
          <p:spPr>
            <a:xfrm>
              <a:off x="6090870" y="804460"/>
              <a:ext cx="3812983" cy="731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6090870" y="804460"/>
              <a:ext cx="3812983" cy="731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Modelo Orientado a Objetos    </a:t>
              </a:r>
              <a:endPara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76" name="Google Shape;276;p7"/>
            <p:cNvCxnSpPr/>
            <p:nvPr/>
          </p:nvCxnSpPr>
          <p:spPr>
            <a:xfrm>
              <a:off x="1980770" y="1535787"/>
              <a:ext cx="79230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7" name="Google Shape;277;p7"/>
            <p:cNvSpPr/>
            <p:nvPr/>
          </p:nvSpPr>
          <p:spPr>
            <a:xfrm>
              <a:off x="2129328" y="1608920"/>
              <a:ext cx="3812983" cy="1462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7"/>
            <p:cNvSpPr txBox="1"/>
            <p:nvPr/>
          </p:nvSpPr>
          <p:spPr>
            <a:xfrm>
              <a:off x="2129328" y="1608920"/>
              <a:ext cx="3812983" cy="1462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entury Gothic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Basado en registros</a:t>
              </a:r>
              <a:r>
                <a:rPr b="0" i="0" lang="es-AR" sz="1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(conceptual, físico). La BD se estructura en reg. de formato fijo. Se dispone de lenguaje asociado para expresar consultas</a:t>
              </a:r>
              <a:endParaRPr b="0" i="0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6090870" y="1608920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7"/>
            <p:cNvSpPr txBox="1"/>
            <p:nvPr/>
          </p:nvSpPr>
          <p:spPr>
            <a:xfrm>
              <a:off x="6090870" y="1608920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OO</a:t>
              </a:r>
              <a:endPara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81" name="Google Shape;281;p7"/>
            <p:cNvCxnSpPr/>
            <p:nvPr/>
          </p:nvCxnSpPr>
          <p:spPr>
            <a:xfrm>
              <a:off x="5942312" y="1974583"/>
              <a:ext cx="3812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2" name="Google Shape;282;p7"/>
            <p:cNvSpPr/>
            <p:nvPr/>
          </p:nvSpPr>
          <p:spPr>
            <a:xfrm>
              <a:off x="6090870" y="1974583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7"/>
            <p:cNvSpPr txBox="1"/>
            <p:nvPr/>
          </p:nvSpPr>
          <p:spPr>
            <a:xfrm>
              <a:off x="6090870" y="1974583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relacional </a:t>
              </a:r>
              <a:endPara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84" name="Google Shape;284;p7"/>
            <p:cNvCxnSpPr/>
            <p:nvPr/>
          </p:nvCxnSpPr>
          <p:spPr>
            <a:xfrm>
              <a:off x="5942312" y="2340247"/>
              <a:ext cx="3812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5" name="Google Shape;285;p7"/>
            <p:cNvSpPr/>
            <p:nvPr/>
          </p:nvSpPr>
          <p:spPr>
            <a:xfrm>
              <a:off x="6090870" y="2340247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7"/>
            <p:cNvSpPr txBox="1"/>
            <p:nvPr/>
          </p:nvSpPr>
          <p:spPr>
            <a:xfrm>
              <a:off x="6090870" y="2340247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jerárquico       </a:t>
              </a:r>
              <a:endPara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87" name="Google Shape;287;p7"/>
            <p:cNvCxnSpPr/>
            <p:nvPr/>
          </p:nvCxnSpPr>
          <p:spPr>
            <a:xfrm>
              <a:off x="5942312" y="2705911"/>
              <a:ext cx="38129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8" name="Google Shape;288;p7"/>
            <p:cNvSpPr/>
            <p:nvPr/>
          </p:nvSpPr>
          <p:spPr>
            <a:xfrm>
              <a:off x="6090870" y="2705911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7"/>
            <p:cNvSpPr txBox="1"/>
            <p:nvPr/>
          </p:nvSpPr>
          <p:spPr>
            <a:xfrm>
              <a:off x="6090870" y="2705911"/>
              <a:ext cx="3812983" cy="36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entury Gothic"/>
                <a:buNone/>
              </a:pPr>
              <a:r>
                <a:rPr b="0" i="0" lang="es-AR" sz="16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red</a:t>
              </a:r>
              <a:endPara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90" name="Google Shape;290;p7"/>
            <p:cNvCxnSpPr/>
            <p:nvPr/>
          </p:nvCxnSpPr>
          <p:spPr>
            <a:xfrm>
              <a:off x="1980770" y="3071574"/>
              <a:ext cx="79230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1" name="Google Shape;291;p7"/>
            <p:cNvSpPr/>
            <p:nvPr/>
          </p:nvSpPr>
          <p:spPr>
            <a:xfrm>
              <a:off x="2129328" y="3144707"/>
              <a:ext cx="3812983" cy="1462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7"/>
            <p:cNvSpPr txBox="1"/>
            <p:nvPr/>
          </p:nvSpPr>
          <p:spPr>
            <a:xfrm>
              <a:off x="2129328" y="3144707"/>
              <a:ext cx="3812983" cy="1462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750" lIns="64750" spcFirstLastPara="1" rIns="64750" wrap="square" tIns="647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entury Gothic"/>
                <a:buNone/>
              </a:pPr>
              <a:r>
                <a:rPr b="1" i="0" lang="es-AR" sz="1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Físico de datos</a:t>
              </a:r>
              <a:r>
                <a:rPr b="0" i="0" lang="es-AR" sz="1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/>
            </a:p>
          </p:txBody>
        </p:sp>
        <p:cxnSp>
          <p:nvCxnSpPr>
            <p:cNvPr id="293" name="Google Shape;293;p7"/>
            <p:cNvCxnSpPr/>
            <p:nvPr/>
          </p:nvCxnSpPr>
          <p:spPr>
            <a:xfrm>
              <a:off x="1980770" y="4607362"/>
              <a:ext cx="792308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4" name="Google Shape;294;p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295" name="Google Shape;295;p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2_7" id="296" name="Google Shape;29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1725" y="406132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Modelado</a:t>
            </a:r>
            <a:endParaRPr/>
          </a:p>
        </p:txBody>
      </p:sp>
      <p:grpSp>
        <p:nvGrpSpPr>
          <p:cNvPr id="303" name="Google Shape;303;p8"/>
          <p:cNvGrpSpPr/>
          <p:nvPr/>
        </p:nvGrpSpPr>
        <p:grpSpPr>
          <a:xfrm>
            <a:off x="2589213" y="2162087"/>
            <a:ext cx="8915400" cy="3721275"/>
            <a:chOff x="0" y="28487"/>
            <a:chExt cx="8915400" cy="3721275"/>
          </a:xfrm>
        </p:grpSpPr>
        <p:sp>
          <p:nvSpPr>
            <p:cNvPr id="304" name="Google Shape;304;p8"/>
            <p:cNvSpPr/>
            <p:nvPr/>
          </p:nvSpPr>
          <p:spPr>
            <a:xfrm>
              <a:off x="0" y="28487"/>
              <a:ext cx="8915400" cy="88744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8"/>
            <p:cNvSpPr txBox="1"/>
            <p:nvPr/>
          </p:nvSpPr>
          <p:spPr>
            <a:xfrm>
              <a:off x="43321" y="71808"/>
              <a:ext cx="8828758" cy="8008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0950" lIns="140950" spcFirstLastPara="1" rIns="140950" wrap="square" tIns="14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700"/>
                <a:buFont typeface="Century Gothic"/>
                <a:buNone/>
              </a:pPr>
              <a:r>
                <a:rPr b="0" i="0" lang="es-AR" sz="3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Diseño de datos: tres etapas</a:t>
              </a:r>
              <a:endParaRPr b="0" i="0" sz="3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0" y="915932"/>
              <a:ext cx="8915400" cy="2833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8"/>
            <p:cNvSpPr txBox="1"/>
            <p:nvPr/>
          </p:nvSpPr>
          <p:spPr>
            <a:xfrm>
              <a:off x="0" y="915932"/>
              <a:ext cx="8915400" cy="2833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975" lIns="283050" spcFirstLastPara="1" rIns="263125" wrap="square" tIns="4697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entury Gothic"/>
                <a:buChar char="•"/>
              </a:pPr>
              <a:r>
                <a:rPr b="0" i="0" lang="es-AR" sz="2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Conceptual (representación abstracta)</a:t>
              </a:r>
              <a:endParaRPr b="0" i="0" sz="2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5750" lvl="2" marL="571500" marR="0" rtl="0" algn="l">
                <a:lnSpc>
                  <a:spcPct val="90000"/>
                </a:lnSpc>
                <a:spcBef>
                  <a:spcPts val="58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entury Gothic"/>
                <a:buChar char="•"/>
              </a:pPr>
              <a:r>
                <a:rPr b="0" i="0" lang="es-AR" sz="2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Integración de vistas</a:t>
              </a:r>
              <a:endParaRPr b="0" i="0" sz="2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8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entury Gothic"/>
                <a:buChar char="•"/>
              </a:pPr>
              <a:r>
                <a:rPr b="0" i="0" lang="es-AR" sz="2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Lógico (representación en una computadora)</a:t>
              </a:r>
              <a:endParaRPr b="0" i="0" sz="2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580"/>
                </a:spcBef>
                <a:spcAft>
                  <a:spcPts val="0"/>
                </a:spcAft>
                <a:buClr>
                  <a:schemeClr val="dk1"/>
                </a:buClr>
                <a:buSzPts val="2900"/>
                <a:buFont typeface="Century Gothic"/>
                <a:buChar char="•"/>
              </a:pPr>
              <a:r>
                <a:rPr b="0" i="0" lang="es-AR" sz="2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Físico (determinar estructuras de almacenamiento físico)</a:t>
              </a:r>
              <a:endParaRPr b="0" i="0" sz="2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08" name="Google Shape;308;p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09" name="Google Shape;309;p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8" id="310" name="Google Shape;3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900" y="34290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Modelado </a:t>
            </a:r>
            <a:endParaRPr/>
          </a:p>
        </p:txBody>
      </p:sp>
      <p:sp>
        <p:nvSpPr>
          <p:cNvPr id="316" name="Google Shape;316;p9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Nivel conceptual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Generico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Alejado del tipo de DBMS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Alejado del producto particular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Nivel logico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Mas especifico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Orientado a un tipo de DBMS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Aljeado del producto particular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Nivel fisico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Especifico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Orientado a un producto</a:t>
            </a:r>
            <a:endParaRPr/>
          </a:p>
        </p:txBody>
      </p:sp>
      <p:sp>
        <p:nvSpPr>
          <p:cNvPr id="317" name="Google Shape;317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18" name="Google Shape;318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9" id="319" name="Google Shape;3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175" y="312752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Modelado</a:t>
            </a:r>
            <a:endParaRPr/>
          </a:p>
        </p:txBody>
      </p:sp>
      <p:grpSp>
        <p:nvGrpSpPr>
          <p:cNvPr id="325" name="Google Shape;325;p10"/>
          <p:cNvGrpSpPr/>
          <p:nvPr/>
        </p:nvGrpSpPr>
        <p:grpSpPr>
          <a:xfrm>
            <a:off x="1674254" y="1647123"/>
            <a:ext cx="10517746" cy="4510350"/>
            <a:chOff x="0" y="127416"/>
            <a:chExt cx="10517746" cy="4510350"/>
          </a:xfrm>
        </p:grpSpPr>
        <p:sp>
          <p:nvSpPr>
            <p:cNvPr id="326" name="Google Shape;326;p10"/>
            <p:cNvSpPr/>
            <p:nvPr/>
          </p:nvSpPr>
          <p:spPr>
            <a:xfrm>
              <a:off x="0" y="127416"/>
              <a:ext cx="10517746" cy="2007720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0"/>
            <p:cNvSpPr txBox="1"/>
            <p:nvPr/>
          </p:nvSpPr>
          <p:spPr>
            <a:xfrm>
              <a:off x="98009" y="225425"/>
              <a:ext cx="10321728" cy="1811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entury Gothic"/>
                <a:buNone/>
              </a:pPr>
              <a:r>
                <a:rPr b="0" i="0" lang="es-AR" sz="3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Un modelo de datos sirve para hacer más fácil al compresión de los datos de una organización</a:t>
              </a:r>
              <a:endParaRPr/>
            </a:p>
          </p:txBody>
        </p:sp>
        <p:sp>
          <p:nvSpPr>
            <p:cNvPr id="328" name="Google Shape;328;p10"/>
            <p:cNvSpPr/>
            <p:nvPr/>
          </p:nvSpPr>
          <p:spPr>
            <a:xfrm>
              <a:off x="0" y="2135136"/>
              <a:ext cx="10517746" cy="2502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0"/>
            <p:cNvSpPr txBox="1"/>
            <p:nvPr/>
          </p:nvSpPr>
          <p:spPr>
            <a:xfrm>
              <a:off x="0" y="2135136"/>
              <a:ext cx="10517746" cy="2502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525" lIns="333925" spcFirstLastPara="1" rIns="277350" wrap="square" tIns="4952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entury Gothic"/>
                <a:buChar char="•"/>
              </a:pPr>
              <a:r>
                <a:rPr b="0" i="0" lang="es-AR" sz="3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modela para</a:t>
              </a:r>
              <a:endParaRPr/>
            </a:p>
            <a:p>
              <a:pPr indent="-285750" lvl="2" marL="5715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entury Gothic"/>
                <a:buChar char="•"/>
              </a:pPr>
              <a:r>
                <a:rPr b="0" i="0" lang="es-AR" sz="3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Obtener la perspectiva de cada actor asociado al problema</a:t>
              </a:r>
              <a:endParaRPr/>
            </a:p>
            <a:p>
              <a:pPr indent="-285750" lvl="2" marL="5715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entury Gothic"/>
                <a:buChar char="•"/>
              </a:pPr>
              <a:r>
                <a:rPr b="0" i="0" lang="es-AR" sz="3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Obtener la naturaleza y necesidad de cada dato</a:t>
              </a:r>
              <a:endParaRPr/>
            </a:p>
            <a:p>
              <a:pPr indent="-285750" lvl="2" marL="571500" marR="0" rtl="0" algn="l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entury Gothic"/>
                <a:buChar char="•"/>
              </a:pPr>
              <a:r>
                <a:rPr b="0" i="0" lang="es-AR" sz="3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Observar como cada actor utiliza cada dato</a:t>
              </a:r>
              <a:endParaRPr/>
            </a:p>
          </p:txBody>
        </p:sp>
      </p:grpSp>
      <p:sp>
        <p:nvSpPr>
          <p:cNvPr id="330" name="Google Shape;330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31" name="Google Shape;331;p1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10" id="332" name="Google Shape;3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ER</a:t>
            </a:r>
            <a:endParaRPr/>
          </a:p>
        </p:txBody>
      </p:sp>
      <p:grpSp>
        <p:nvGrpSpPr>
          <p:cNvPr id="338" name="Google Shape;338;p11"/>
          <p:cNvGrpSpPr/>
          <p:nvPr/>
        </p:nvGrpSpPr>
        <p:grpSpPr>
          <a:xfrm>
            <a:off x="1944710" y="1635617"/>
            <a:ext cx="10071279" cy="4597758"/>
            <a:chOff x="0" y="0"/>
            <a:chExt cx="10071279" cy="4597758"/>
          </a:xfrm>
        </p:grpSpPr>
        <p:cxnSp>
          <p:nvCxnSpPr>
            <p:cNvPr id="339" name="Google Shape;339;p11"/>
            <p:cNvCxnSpPr/>
            <p:nvPr/>
          </p:nvCxnSpPr>
          <p:spPr>
            <a:xfrm>
              <a:off x="0" y="0"/>
              <a:ext cx="10071279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0" name="Google Shape;340;p11"/>
            <p:cNvSpPr/>
            <p:nvPr/>
          </p:nvSpPr>
          <p:spPr>
            <a:xfrm>
              <a:off x="0" y="0"/>
              <a:ext cx="2014255" cy="4597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1"/>
            <p:cNvSpPr txBox="1"/>
            <p:nvPr/>
          </p:nvSpPr>
          <p:spPr>
            <a:xfrm>
              <a:off x="0" y="0"/>
              <a:ext cx="2014255" cy="4597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entury Gothic"/>
                <a:buNone/>
              </a:pPr>
              <a:r>
                <a:rPr b="0" i="0" lang="es-AR" sz="20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Características del Modelo ER</a:t>
              </a: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2165324" y="43328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1"/>
            <p:cNvSpPr txBox="1"/>
            <p:nvPr/>
          </p:nvSpPr>
          <p:spPr>
            <a:xfrm>
              <a:off x="2165324" y="43328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Estándart internacional desde 1988</a:t>
              </a:r>
              <a:endParaRPr/>
            </a:p>
          </p:txBody>
        </p:sp>
        <p:cxnSp>
          <p:nvCxnSpPr>
            <p:cNvPr id="344" name="Google Shape;344;p11"/>
            <p:cNvCxnSpPr/>
            <p:nvPr/>
          </p:nvCxnSpPr>
          <p:spPr>
            <a:xfrm>
              <a:off x="2014255" y="909898"/>
              <a:ext cx="805702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5" name="Google Shape;345;p11"/>
            <p:cNvSpPr/>
            <p:nvPr/>
          </p:nvSpPr>
          <p:spPr>
            <a:xfrm>
              <a:off x="2165324" y="953226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1"/>
            <p:cNvSpPr txBox="1"/>
            <p:nvPr/>
          </p:nvSpPr>
          <p:spPr>
            <a:xfrm>
              <a:off x="2165324" y="953226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Propuesto por Chen en 1976</a:t>
              </a:r>
              <a:endParaRPr/>
            </a:p>
          </p:txBody>
        </p:sp>
        <p:cxnSp>
          <p:nvCxnSpPr>
            <p:cNvPr id="347" name="Google Shape;347;p11"/>
            <p:cNvCxnSpPr/>
            <p:nvPr/>
          </p:nvCxnSpPr>
          <p:spPr>
            <a:xfrm>
              <a:off x="2014255" y="1819796"/>
              <a:ext cx="805702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8" name="Google Shape;348;p11"/>
            <p:cNvSpPr/>
            <p:nvPr/>
          </p:nvSpPr>
          <p:spPr>
            <a:xfrm>
              <a:off x="2165324" y="1863124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1"/>
            <p:cNvSpPr txBox="1"/>
            <p:nvPr/>
          </p:nvSpPr>
          <p:spPr>
            <a:xfrm>
              <a:off x="2165324" y="1863124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Ampliado por Codd en 1979</a:t>
              </a:r>
              <a:endParaRPr/>
            </a:p>
          </p:txBody>
        </p:sp>
        <p:cxnSp>
          <p:nvCxnSpPr>
            <p:cNvPr id="350" name="Google Shape;350;p11"/>
            <p:cNvCxnSpPr/>
            <p:nvPr/>
          </p:nvCxnSpPr>
          <p:spPr>
            <a:xfrm>
              <a:off x="2014255" y="2729694"/>
              <a:ext cx="805702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1" name="Google Shape;351;p11"/>
            <p:cNvSpPr/>
            <p:nvPr/>
          </p:nvSpPr>
          <p:spPr>
            <a:xfrm>
              <a:off x="2165324" y="2773022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1"/>
            <p:cNvSpPr txBox="1"/>
            <p:nvPr/>
          </p:nvSpPr>
          <p:spPr>
            <a:xfrm>
              <a:off x="2165324" y="2773022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basa en la concepción del mundo real como un conjunto de objetos llamadas entidades y las relaciones que existen entre ellas</a:t>
              </a:r>
              <a:endParaRPr/>
            </a:p>
          </p:txBody>
        </p:sp>
        <p:cxnSp>
          <p:nvCxnSpPr>
            <p:cNvPr id="353" name="Google Shape;353;p11"/>
            <p:cNvCxnSpPr/>
            <p:nvPr/>
          </p:nvCxnSpPr>
          <p:spPr>
            <a:xfrm>
              <a:off x="2014255" y="3639592"/>
              <a:ext cx="805702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4" name="Google Shape;354;p11"/>
            <p:cNvSpPr/>
            <p:nvPr/>
          </p:nvSpPr>
          <p:spPr>
            <a:xfrm>
              <a:off x="2165324" y="3682920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1"/>
            <p:cNvSpPr txBox="1"/>
            <p:nvPr/>
          </p:nvSpPr>
          <p:spPr>
            <a:xfrm>
              <a:off x="2165324" y="3682920"/>
              <a:ext cx="7905954" cy="8665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Permite modelar el nivel conceptual y lógico de una BD</a:t>
              </a:r>
              <a:endParaRPr/>
            </a:p>
          </p:txBody>
        </p:sp>
        <p:cxnSp>
          <p:nvCxnSpPr>
            <p:cNvPr id="356" name="Google Shape;356;p11"/>
            <p:cNvCxnSpPr/>
            <p:nvPr/>
          </p:nvCxnSpPr>
          <p:spPr>
            <a:xfrm>
              <a:off x="2014255" y="4549490"/>
              <a:ext cx="8057023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57" name="Google Shape;357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58" name="Google Shape;358;p1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11" id="359" name="Google Shape;3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grpSp>
        <p:nvGrpSpPr>
          <p:cNvPr id="365" name="Google Shape;365;p12"/>
          <p:cNvGrpSpPr/>
          <p:nvPr/>
        </p:nvGrpSpPr>
        <p:grpSpPr>
          <a:xfrm>
            <a:off x="2589213" y="2133600"/>
            <a:ext cx="8915400" cy="3778250"/>
            <a:chOff x="0" y="0"/>
            <a:chExt cx="8915400" cy="3778250"/>
          </a:xfrm>
        </p:grpSpPr>
        <p:cxnSp>
          <p:nvCxnSpPr>
            <p:cNvPr id="366" name="Google Shape;366;p12"/>
            <p:cNvCxnSpPr/>
            <p:nvPr/>
          </p:nvCxnSpPr>
          <p:spPr>
            <a:xfrm>
              <a:off x="0" y="0"/>
              <a:ext cx="8915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7" name="Google Shape;367;p12"/>
            <p:cNvSpPr/>
            <p:nvPr/>
          </p:nvSpPr>
          <p:spPr>
            <a:xfrm>
              <a:off x="0" y="0"/>
              <a:ext cx="1783080" cy="377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2"/>
            <p:cNvSpPr txBox="1"/>
            <p:nvPr/>
          </p:nvSpPr>
          <p:spPr>
            <a:xfrm>
              <a:off x="0" y="0"/>
              <a:ext cx="1783080" cy="3778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700"/>
                <a:buFont typeface="Century Gothic"/>
                <a:buNone/>
              </a:pPr>
              <a:r>
                <a:rPr b="0" i="0" lang="es-AR" sz="27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Objetivos </a:t>
              </a:r>
              <a:endParaRPr/>
            </a:p>
          </p:txBody>
        </p:sp>
        <p:sp>
          <p:nvSpPr>
            <p:cNvPr id="369" name="Google Shape;369;p12"/>
            <p:cNvSpPr/>
            <p:nvPr/>
          </p:nvSpPr>
          <p:spPr>
            <a:xfrm>
              <a:off x="1916811" y="59035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2"/>
            <p:cNvSpPr txBox="1"/>
            <p:nvPr/>
          </p:nvSpPr>
          <p:spPr>
            <a:xfrm>
              <a:off x="1916811" y="59035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None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Representar la información de un problema en un alto nivel de abstracción</a:t>
              </a:r>
              <a:endParaRPr/>
            </a:p>
          </p:txBody>
        </p:sp>
        <p:cxnSp>
          <p:nvCxnSpPr>
            <p:cNvPr id="371" name="Google Shape;371;p12"/>
            <p:cNvCxnSpPr/>
            <p:nvPr/>
          </p:nvCxnSpPr>
          <p:spPr>
            <a:xfrm>
              <a:off x="1783080" y="1239738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2" name="Google Shape;372;p12"/>
            <p:cNvSpPr/>
            <p:nvPr/>
          </p:nvSpPr>
          <p:spPr>
            <a:xfrm>
              <a:off x="1916811" y="1298773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2"/>
            <p:cNvSpPr txBox="1"/>
            <p:nvPr/>
          </p:nvSpPr>
          <p:spPr>
            <a:xfrm>
              <a:off x="1916811" y="1298773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None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Captar la necesidad de un cliente respecto del problema que enfrenta</a:t>
              </a:r>
              <a:endParaRPr/>
            </a:p>
          </p:txBody>
        </p:sp>
        <p:cxnSp>
          <p:nvCxnSpPr>
            <p:cNvPr id="374" name="Google Shape;374;p12"/>
            <p:cNvCxnSpPr/>
            <p:nvPr/>
          </p:nvCxnSpPr>
          <p:spPr>
            <a:xfrm>
              <a:off x="1783080" y="2479476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5" name="Google Shape;375;p12"/>
            <p:cNvSpPr/>
            <p:nvPr/>
          </p:nvSpPr>
          <p:spPr>
            <a:xfrm>
              <a:off x="1916811" y="2538511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2"/>
            <p:cNvSpPr txBox="1"/>
            <p:nvPr/>
          </p:nvSpPr>
          <p:spPr>
            <a:xfrm>
              <a:off x="1916811" y="2538511"/>
              <a:ext cx="6998589" cy="1180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entury Gothic"/>
                <a:buNone/>
              </a:pPr>
              <a:r>
                <a:rPr b="0" i="0" lang="es-AR" sz="23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Mejora la interacción cliente / desarrollador disminuyendo la brecha entre la realidad del problema y el sistema a desarrollar</a:t>
              </a:r>
              <a:endParaRPr/>
            </a:p>
          </p:txBody>
        </p:sp>
        <p:cxnSp>
          <p:nvCxnSpPr>
            <p:cNvPr id="377" name="Google Shape;377;p12"/>
            <p:cNvCxnSpPr/>
            <p:nvPr/>
          </p:nvCxnSpPr>
          <p:spPr>
            <a:xfrm>
              <a:off x="1783080" y="3719214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78" name="Google Shape;378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379" name="Google Shape;379;p1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12" id="380" name="Google Shape;3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grpSp>
        <p:nvGrpSpPr>
          <p:cNvPr id="386" name="Google Shape;386;p13"/>
          <p:cNvGrpSpPr/>
          <p:nvPr/>
        </p:nvGrpSpPr>
        <p:grpSpPr>
          <a:xfrm>
            <a:off x="1931831" y="2086377"/>
            <a:ext cx="9572782" cy="3825473"/>
            <a:chOff x="0" y="0"/>
            <a:chExt cx="9572782" cy="3825473"/>
          </a:xfrm>
        </p:grpSpPr>
        <p:cxnSp>
          <p:nvCxnSpPr>
            <p:cNvPr id="387" name="Google Shape;387;p13"/>
            <p:cNvCxnSpPr/>
            <p:nvPr/>
          </p:nvCxnSpPr>
          <p:spPr>
            <a:xfrm>
              <a:off x="0" y="0"/>
              <a:ext cx="9572782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8" name="Google Shape;388;p13"/>
            <p:cNvSpPr/>
            <p:nvPr/>
          </p:nvSpPr>
          <p:spPr>
            <a:xfrm>
              <a:off x="0" y="0"/>
              <a:ext cx="1914556" cy="3825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3"/>
            <p:cNvSpPr txBox="1"/>
            <p:nvPr/>
          </p:nvSpPr>
          <p:spPr>
            <a:xfrm>
              <a:off x="0" y="0"/>
              <a:ext cx="1914556" cy="38254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1" i="1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Características </a:t>
              </a: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2058148" y="44969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3"/>
            <p:cNvSpPr txBox="1"/>
            <p:nvPr/>
          </p:nvSpPr>
          <p:spPr>
            <a:xfrm>
              <a:off x="2058148" y="44969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1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Expresividad</a:t>
              </a: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: disponer de todos los medios necesarios para describir un problema</a:t>
              </a:r>
              <a:endParaRPr/>
            </a:p>
          </p:txBody>
        </p:sp>
        <p:cxnSp>
          <p:nvCxnSpPr>
            <p:cNvPr id="392" name="Google Shape;392;p13"/>
            <p:cNvCxnSpPr/>
            <p:nvPr/>
          </p:nvCxnSpPr>
          <p:spPr>
            <a:xfrm>
              <a:off x="1914556" y="944366"/>
              <a:ext cx="7658225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3" name="Google Shape;393;p13"/>
            <p:cNvSpPr/>
            <p:nvPr/>
          </p:nvSpPr>
          <p:spPr>
            <a:xfrm>
              <a:off x="2058148" y="989336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3"/>
            <p:cNvSpPr txBox="1"/>
            <p:nvPr/>
          </p:nvSpPr>
          <p:spPr>
            <a:xfrm>
              <a:off x="2058148" y="989336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1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Formalidad</a:t>
              </a: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: cada elemento representado sea preciso y bien definido, con una sola interpretación posible</a:t>
              </a:r>
              <a:endParaRPr/>
            </a:p>
          </p:txBody>
        </p:sp>
        <p:cxnSp>
          <p:nvCxnSpPr>
            <p:cNvPr id="395" name="Google Shape;395;p13"/>
            <p:cNvCxnSpPr/>
            <p:nvPr/>
          </p:nvCxnSpPr>
          <p:spPr>
            <a:xfrm>
              <a:off x="1914556" y="1888733"/>
              <a:ext cx="7658225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6" name="Google Shape;396;p13"/>
            <p:cNvSpPr/>
            <p:nvPr/>
          </p:nvSpPr>
          <p:spPr>
            <a:xfrm>
              <a:off x="2058148" y="1933703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3"/>
            <p:cNvSpPr txBox="1"/>
            <p:nvPr/>
          </p:nvSpPr>
          <p:spPr>
            <a:xfrm>
              <a:off x="2058148" y="1933703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1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Minimalidad: </a:t>
              </a: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cada elemento tiene una única representación posible</a:t>
              </a:r>
              <a:endParaRPr/>
            </a:p>
          </p:txBody>
        </p:sp>
        <p:cxnSp>
          <p:nvCxnSpPr>
            <p:cNvPr id="398" name="Google Shape;398;p13"/>
            <p:cNvCxnSpPr/>
            <p:nvPr/>
          </p:nvCxnSpPr>
          <p:spPr>
            <a:xfrm>
              <a:off x="1914556" y="2833100"/>
              <a:ext cx="7658225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9" name="Google Shape;399;p13"/>
            <p:cNvSpPr/>
            <p:nvPr/>
          </p:nvSpPr>
          <p:spPr>
            <a:xfrm>
              <a:off x="2058148" y="2878070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3"/>
            <p:cNvSpPr txBox="1"/>
            <p:nvPr/>
          </p:nvSpPr>
          <p:spPr>
            <a:xfrm>
              <a:off x="2058148" y="2878070"/>
              <a:ext cx="7514633" cy="8993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1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Simplicidad</a:t>
              </a: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: el modelo debe ser fácil de entender por el cliente y por el desarrollador</a:t>
              </a:r>
              <a:endParaRPr/>
            </a:p>
          </p:txBody>
        </p:sp>
        <p:cxnSp>
          <p:nvCxnSpPr>
            <p:cNvPr id="401" name="Google Shape;401;p13"/>
            <p:cNvCxnSpPr/>
            <p:nvPr/>
          </p:nvCxnSpPr>
          <p:spPr>
            <a:xfrm>
              <a:off x="1914556" y="3777467"/>
              <a:ext cx="7658225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02" name="Google Shape;402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03" name="Google Shape;403;p1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13" id="404" name="Google Shape;4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  🡪 Componentes </a:t>
            </a:r>
            <a:endParaRPr/>
          </a:p>
        </p:txBody>
      </p:sp>
      <p:grpSp>
        <p:nvGrpSpPr>
          <p:cNvPr id="410" name="Google Shape;410;p14"/>
          <p:cNvGrpSpPr/>
          <p:nvPr/>
        </p:nvGrpSpPr>
        <p:grpSpPr>
          <a:xfrm>
            <a:off x="3998133" y="2135385"/>
            <a:ext cx="6097558" cy="3774678"/>
            <a:chOff x="1408920" y="1785"/>
            <a:chExt cx="6097558" cy="3774678"/>
          </a:xfrm>
        </p:grpSpPr>
        <p:sp>
          <p:nvSpPr>
            <p:cNvPr id="411" name="Google Shape;411;p14"/>
            <p:cNvSpPr/>
            <p:nvPr/>
          </p:nvSpPr>
          <p:spPr>
            <a:xfrm>
              <a:off x="1408920" y="1785"/>
              <a:ext cx="2903599" cy="1742159"/>
            </a:xfrm>
            <a:prstGeom prst="rect">
              <a:avLst/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4"/>
            <p:cNvSpPr txBox="1"/>
            <p:nvPr/>
          </p:nvSpPr>
          <p:spPr>
            <a:xfrm>
              <a:off x="1408920" y="1785"/>
              <a:ext cx="2903599" cy="1742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entury Gothic"/>
                <a:buNone/>
              </a:pPr>
              <a:r>
                <a:rPr b="0" i="0" lang="es-AR" sz="3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Entidades</a:t>
              </a:r>
              <a:endParaRPr/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4602879" y="1785"/>
              <a:ext cx="2903599" cy="1742159"/>
            </a:xfrm>
            <a:prstGeom prst="rect">
              <a:avLst/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4"/>
            <p:cNvSpPr txBox="1"/>
            <p:nvPr/>
          </p:nvSpPr>
          <p:spPr>
            <a:xfrm>
              <a:off x="4602879" y="1785"/>
              <a:ext cx="2903599" cy="1742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entury Gothic"/>
                <a:buNone/>
              </a:pPr>
              <a:r>
                <a:rPr b="0" i="0" lang="es-AR" sz="3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Relaciones</a:t>
              </a:r>
              <a:endParaRPr/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3005900" y="2034304"/>
              <a:ext cx="2903599" cy="1742159"/>
            </a:xfrm>
            <a:prstGeom prst="rect">
              <a:avLst/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4"/>
            <p:cNvSpPr txBox="1"/>
            <p:nvPr/>
          </p:nvSpPr>
          <p:spPr>
            <a:xfrm>
              <a:off x="3005900" y="2034304"/>
              <a:ext cx="2903599" cy="1742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4775" lIns="144775" spcFirstLastPara="1" rIns="144775" wrap="square" tIns="144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Century Gothic"/>
                <a:buNone/>
              </a:pPr>
              <a:r>
                <a:rPr b="0" i="0" lang="es-AR" sz="38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</a:t>
              </a:r>
              <a:endParaRPr/>
            </a:p>
          </p:txBody>
        </p:sp>
      </p:grpSp>
      <p:sp>
        <p:nvSpPr>
          <p:cNvPr id="417" name="Google Shape;417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18" name="Google Shape;418;p1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14" id="419" name="Google Shape;4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grpSp>
        <p:nvGrpSpPr>
          <p:cNvPr id="425" name="Google Shape;425;p15"/>
          <p:cNvGrpSpPr/>
          <p:nvPr/>
        </p:nvGrpSpPr>
        <p:grpSpPr>
          <a:xfrm>
            <a:off x="2589213" y="2187467"/>
            <a:ext cx="8915400" cy="3670515"/>
            <a:chOff x="0" y="53867"/>
            <a:chExt cx="8915400" cy="3670515"/>
          </a:xfrm>
        </p:grpSpPr>
        <p:sp>
          <p:nvSpPr>
            <p:cNvPr id="426" name="Google Shape;426;p15"/>
            <p:cNvSpPr/>
            <p:nvPr/>
          </p:nvSpPr>
          <p:spPr>
            <a:xfrm>
              <a:off x="0" y="53867"/>
              <a:ext cx="8915400" cy="64759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5"/>
            <p:cNvSpPr txBox="1"/>
            <p:nvPr/>
          </p:nvSpPr>
          <p:spPr>
            <a:xfrm>
              <a:off x="31613" y="85480"/>
              <a:ext cx="8852174" cy="584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entury Gothic"/>
                <a:buNone/>
              </a:pPr>
              <a:r>
                <a:rPr b="0" i="0" lang="es-AR" sz="2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Entidades</a:t>
              </a:r>
              <a:endParaRPr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0" y="701462"/>
              <a:ext cx="8915400" cy="139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5"/>
            <p:cNvSpPr txBox="1"/>
            <p:nvPr/>
          </p:nvSpPr>
          <p:spPr>
            <a:xfrm>
              <a:off x="0" y="701462"/>
              <a:ext cx="8915400" cy="139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283050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Representa un elemento u objeto del mundo real con identidad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 diferencia de cualquier otro objeto o cosa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Ejemplos</a:t>
              </a: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0" y="2098712"/>
              <a:ext cx="8915400" cy="64759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5"/>
            <p:cNvSpPr txBox="1"/>
            <p:nvPr/>
          </p:nvSpPr>
          <p:spPr>
            <a:xfrm>
              <a:off x="31613" y="2130325"/>
              <a:ext cx="8852174" cy="584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entury Gothic"/>
                <a:buNone/>
              </a:pPr>
              <a:r>
                <a:rPr b="0" i="0" lang="es-AR" sz="27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Conjunto de entidades</a:t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0" y="2746307"/>
              <a:ext cx="8915400" cy="978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5"/>
            <p:cNvSpPr txBox="1"/>
            <p:nvPr/>
          </p:nvSpPr>
          <p:spPr>
            <a:xfrm>
              <a:off x="0" y="2746307"/>
              <a:ext cx="8915400" cy="978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283050" spcFirstLastPara="1" rIns="192000" wrap="square" tIns="342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Char char="•"/>
              </a:pPr>
              <a:r>
                <a:rPr b="0" i="0" lang="es-AR" sz="21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Representación que, a partir de las características própias de cada entidad con propiedades comunes, se resume en un núcleo</a:t>
              </a:r>
              <a:endParaRPr/>
            </a:p>
          </p:txBody>
        </p:sp>
      </p:grpSp>
      <p:sp>
        <p:nvSpPr>
          <p:cNvPr id="434" name="Google Shape;434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35" name="Google Shape;435;p1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436" name="Google Shape;4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0238" y="5956331"/>
            <a:ext cx="6580042" cy="7240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2_15" id="437" name="Google Shape;43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7450" y="32954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grpSp>
        <p:nvGrpSpPr>
          <p:cNvPr id="443" name="Google Shape;443;p16"/>
          <p:cNvGrpSpPr/>
          <p:nvPr/>
        </p:nvGrpSpPr>
        <p:grpSpPr>
          <a:xfrm>
            <a:off x="2589213" y="2243290"/>
            <a:ext cx="8915400" cy="3558869"/>
            <a:chOff x="0" y="109690"/>
            <a:chExt cx="8915400" cy="3558869"/>
          </a:xfrm>
        </p:grpSpPr>
        <p:sp>
          <p:nvSpPr>
            <p:cNvPr id="444" name="Google Shape;444;p16"/>
            <p:cNvSpPr/>
            <p:nvPr/>
          </p:nvSpPr>
          <p:spPr>
            <a:xfrm>
              <a:off x="0" y="109690"/>
              <a:ext cx="8915400" cy="1175264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6"/>
            <p:cNvSpPr txBox="1"/>
            <p:nvPr/>
          </p:nvSpPr>
          <p:spPr>
            <a:xfrm>
              <a:off x="57372" y="167062"/>
              <a:ext cx="8800656" cy="1060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6675" lIns="186675" spcFirstLastPara="1" rIns="186675" wrap="square" tIns="18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900"/>
                <a:buFont typeface="Century Gothic"/>
                <a:buNone/>
              </a:pPr>
              <a:r>
                <a:rPr b="0" i="0" lang="es-AR" sz="49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Atributos</a:t>
              </a: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0" y="1284955"/>
              <a:ext cx="8915400" cy="2383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 txBox="1"/>
            <p:nvPr/>
          </p:nvSpPr>
          <p:spPr>
            <a:xfrm>
              <a:off x="0" y="1284955"/>
              <a:ext cx="8915400" cy="23836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2225" lIns="283050" spcFirstLastPara="1" rIns="348475" wrap="square" tIns="62225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entury Gothic"/>
                <a:buChar char="•"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Representa una propiedad básica de una entidad o relación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760"/>
                </a:spcBef>
                <a:spcAft>
                  <a:spcPts val="0"/>
                </a:spcAft>
                <a:buClr>
                  <a:schemeClr val="dk1"/>
                </a:buClr>
                <a:buSzPts val="3800"/>
                <a:buFont typeface="Century Gothic"/>
                <a:buChar char="•"/>
              </a:pPr>
              <a:r>
                <a:rPr b="0" i="0" lang="es-AR" sz="38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Equivale a un campo de un registro</a:t>
              </a:r>
              <a:endParaRPr/>
            </a:p>
          </p:txBody>
        </p:sp>
      </p:grpSp>
      <p:sp>
        <p:nvSpPr>
          <p:cNvPr id="448" name="Google Shape;448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49" name="Google Shape;449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15" id="450" name="Google Shape;4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sp>
        <p:nvSpPr>
          <p:cNvPr id="456" name="Google Shape;456;p17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Ejemplos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57" name="Google Shape;457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58" name="Google Shape;458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459" name="Google Shape;459;p17"/>
          <p:cNvPicPr preferRelativeResize="0"/>
          <p:nvPr/>
        </p:nvPicPr>
        <p:blipFill rotWithShape="1">
          <a:blip r:embed="rId3">
            <a:alphaModFix/>
          </a:blip>
          <a:srcRect b="4542" l="-64461" r="64460" t="-4542"/>
          <a:stretch/>
        </p:blipFill>
        <p:spPr>
          <a:xfrm>
            <a:off x="394652" y="2657583"/>
            <a:ext cx="7427710" cy="1333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7"/>
          <p:cNvPicPr preferRelativeResize="0"/>
          <p:nvPr/>
        </p:nvPicPr>
        <p:blipFill rotWithShape="1">
          <a:blip r:embed="rId4">
            <a:alphaModFix/>
          </a:blip>
          <a:srcRect b="10795" l="68708" r="-68708" t="-10796"/>
          <a:stretch/>
        </p:blipFill>
        <p:spPr>
          <a:xfrm>
            <a:off x="5557800" y="4049397"/>
            <a:ext cx="7761401" cy="13338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2_17" id="461" name="Google Shape;4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1125" y="352622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4000">
              <a:srgbClr val="FFFFFF"/>
            </a:gs>
            <a:gs pos="100000">
              <a:srgbClr val="DDD7C7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sp>
        <p:nvSpPr>
          <p:cNvPr id="467" name="Google Shape;467;p18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 cap="flat" cmpd="sng" w="9525">
            <a:solidFill>
              <a:srgbClr val="3D7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Char char="🠶"/>
            </a:pPr>
            <a:r>
              <a:rPr lang="es-AR" sz="3200"/>
              <a:t>Cardinalidad de atributos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lang="es-AR" sz="2800"/>
              <a:t>Monovalente/polivalente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lang="es-AR" sz="2800"/>
              <a:t>Obligatorio/opcional  (nulo)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68" name="Google Shape;468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2</a:t>
            </a:r>
            <a:endParaRPr/>
          </a:p>
        </p:txBody>
      </p:sp>
      <p:sp>
        <p:nvSpPr>
          <p:cNvPr id="469" name="Google Shape;469;p1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470" name="Google Shape;470;p18"/>
          <p:cNvPicPr preferRelativeResize="0"/>
          <p:nvPr/>
        </p:nvPicPr>
        <p:blipFill rotWithShape="1">
          <a:blip r:embed="rId3">
            <a:alphaModFix/>
          </a:blip>
          <a:srcRect b="4542" l="-64461" r="64460" t="-4542"/>
          <a:stretch/>
        </p:blipFill>
        <p:spPr>
          <a:xfrm>
            <a:off x="-519748" y="4286087"/>
            <a:ext cx="7427710" cy="1333828"/>
          </a:xfrm>
          <a:prstGeom prst="rect">
            <a:avLst/>
          </a:prstGeom>
          <a:noFill/>
          <a:ln cap="flat" cmpd="sng" w="9525">
            <a:solidFill>
              <a:srgbClr val="3D732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2_18" id="471" name="Google Shape;4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0652" y="4316567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8"/>
          <p:cNvSpPr/>
          <p:nvPr/>
        </p:nvSpPr>
        <p:spPr>
          <a:xfrm>
            <a:off x="8882336" y="4286087"/>
            <a:ext cx="2269172" cy="1036320"/>
          </a:xfrm>
          <a:prstGeom prst="frame">
            <a:avLst>
              <a:gd fmla="val 12500" name="adj1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2_18_2" id="473" name="Google Shape;4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3539" y="4316567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grpSp>
        <p:nvGrpSpPr>
          <p:cNvPr id="479" name="Google Shape;479;p19"/>
          <p:cNvGrpSpPr/>
          <p:nvPr/>
        </p:nvGrpSpPr>
        <p:grpSpPr>
          <a:xfrm>
            <a:off x="2589213" y="2140172"/>
            <a:ext cx="8915400" cy="3765105"/>
            <a:chOff x="0" y="6572"/>
            <a:chExt cx="8915400" cy="3765105"/>
          </a:xfrm>
        </p:grpSpPr>
        <p:sp>
          <p:nvSpPr>
            <p:cNvPr id="480" name="Google Shape;480;p19"/>
            <p:cNvSpPr/>
            <p:nvPr/>
          </p:nvSpPr>
          <p:spPr>
            <a:xfrm>
              <a:off x="0" y="6572"/>
              <a:ext cx="8915400" cy="74353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9"/>
            <p:cNvSpPr txBox="1"/>
            <p:nvPr/>
          </p:nvSpPr>
          <p:spPr>
            <a:xfrm>
              <a:off x="36296" y="42868"/>
              <a:ext cx="8842808" cy="670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entury Gothic"/>
                <a:buNone/>
              </a:pPr>
              <a:r>
                <a:rPr b="0" i="0" lang="es-AR" sz="31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Relaciones</a:t>
              </a: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0" y="750107"/>
              <a:ext cx="8915400" cy="1187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9"/>
            <p:cNvSpPr txBox="1"/>
            <p:nvPr/>
          </p:nvSpPr>
          <p:spPr>
            <a:xfrm>
              <a:off x="0" y="750107"/>
              <a:ext cx="8915400" cy="1187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350" lIns="283050" spcFirstLastPara="1" rIns="220450" wrap="square" tIns="393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entury Gothic"/>
                <a:buChar char="•"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Representan agregaciones entre dos (binaria) o mas entidades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entury Gothic"/>
                <a:buChar char="•"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Ej:  el alumno Perez cursa la materia Matemática I</a:t>
              </a: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0" y="1937252"/>
              <a:ext cx="8915400" cy="743535"/>
            </a:xfrm>
            <a:prstGeom prst="roundRect">
              <a:avLst>
                <a:gd fmla="val 16667" name="adj"/>
              </a:avLst>
            </a:prstGeom>
            <a:solidFill>
              <a:srgbClr val="539E36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9"/>
            <p:cNvSpPr txBox="1"/>
            <p:nvPr/>
          </p:nvSpPr>
          <p:spPr>
            <a:xfrm>
              <a:off x="36296" y="1973548"/>
              <a:ext cx="8842808" cy="670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8100" lIns="118100" spcFirstLastPara="1" rIns="118100" wrap="square" tIns="118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100"/>
                <a:buFont typeface="Century Gothic"/>
                <a:buNone/>
              </a:pPr>
              <a:r>
                <a:rPr b="0" i="0" lang="es-AR" sz="31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Conjunto de Relaciones</a:t>
              </a:r>
              <a:endParaRPr/>
            </a:p>
          </p:txBody>
        </p:sp>
        <p:sp>
          <p:nvSpPr>
            <p:cNvPr id="486" name="Google Shape;486;p19"/>
            <p:cNvSpPr/>
            <p:nvPr/>
          </p:nvSpPr>
          <p:spPr>
            <a:xfrm>
              <a:off x="0" y="2680787"/>
              <a:ext cx="8915400" cy="109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9"/>
            <p:cNvSpPr txBox="1"/>
            <p:nvPr/>
          </p:nvSpPr>
          <p:spPr>
            <a:xfrm>
              <a:off x="0" y="2680787"/>
              <a:ext cx="8915400" cy="109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9350" lIns="283050" spcFirstLastPara="1" rIns="220450" wrap="square" tIns="393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entury Gothic"/>
                <a:buChar char="•"/>
              </a:pPr>
              <a:r>
                <a:rPr b="0" i="0" lang="es-AR" sz="24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Es una representación que , a partir de las características propias de cada relación existente entre dos entidades, las resume en un núcleo </a:t>
              </a:r>
              <a:endParaRPr/>
            </a:p>
          </p:txBody>
        </p:sp>
      </p:grpSp>
      <p:sp>
        <p:nvSpPr>
          <p:cNvPr id="488" name="Google Shape;488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89" name="Google Shape;489;p1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19" id="490" name="Google Shape;4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050" y="33059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sp>
        <p:nvSpPr>
          <p:cNvPr id="496" name="Google Shape;496;p20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Ejemplos</a:t>
            </a:r>
            <a:endParaRPr/>
          </a:p>
        </p:txBody>
      </p:sp>
      <p:sp>
        <p:nvSpPr>
          <p:cNvPr id="497" name="Google Shape;497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498" name="Google Shape;498;p20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499" name="Google Shape;4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695" y="2655188"/>
            <a:ext cx="5220844" cy="77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5750" y="2655188"/>
            <a:ext cx="5246250" cy="77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768" y="4300823"/>
            <a:ext cx="5246250" cy="160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5079" y="4273296"/>
            <a:ext cx="3607591" cy="1308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2_20" id="503" name="Google Shape;50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900" y="295965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grpSp>
        <p:nvGrpSpPr>
          <p:cNvPr id="509" name="Google Shape;509;p21"/>
          <p:cNvGrpSpPr/>
          <p:nvPr/>
        </p:nvGrpSpPr>
        <p:grpSpPr>
          <a:xfrm>
            <a:off x="2589213" y="2133600"/>
            <a:ext cx="8915400" cy="3778250"/>
            <a:chOff x="0" y="0"/>
            <a:chExt cx="8915400" cy="3778250"/>
          </a:xfrm>
        </p:grpSpPr>
        <p:cxnSp>
          <p:nvCxnSpPr>
            <p:cNvPr id="510" name="Google Shape;510;p21"/>
            <p:cNvCxnSpPr/>
            <p:nvPr/>
          </p:nvCxnSpPr>
          <p:spPr>
            <a:xfrm>
              <a:off x="0" y="0"/>
              <a:ext cx="8915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1" name="Google Shape;511;p21"/>
            <p:cNvSpPr/>
            <p:nvPr/>
          </p:nvSpPr>
          <p:spPr>
            <a:xfrm>
              <a:off x="0" y="0"/>
              <a:ext cx="1783080" cy="188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1"/>
            <p:cNvSpPr txBox="1"/>
            <p:nvPr/>
          </p:nvSpPr>
          <p:spPr>
            <a:xfrm>
              <a:off x="0" y="0"/>
              <a:ext cx="1783080" cy="188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Tipos de relación</a:t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1916811" y="22207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1"/>
            <p:cNvSpPr txBox="1"/>
            <p:nvPr/>
          </p:nvSpPr>
          <p:spPr>
            <a:xfrm>
              <a:off x="1916811" y="22207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Binaria</a:t>
              </a:r>
              <a:endParaRPr/>
            </a:p>
          </p:txBody>
        </p:sp>
        <p:cxnSp>
          <p:nvCxnSpPr>
            <p:cNvPr id="515" name="Google Shape;515;p21"/>
            <p:cNvCxnSpPr/>
            <p:nvPr/>
          </p:nvCxnSpPr>
          <p:spPr>
            <a:xfrm>
              <a:off x="1783080" y="466354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6" name="Google Shape;516;p21"/>
            <p:cNvSpPr/>
            <p:nvPr/>
          </p:nvSpPr>
          <p:spPr>
            <a:xfrm>
              <a:off x="1916811" y="488562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 txBox="1"/>
            <p:nvPr/>
          </p:nvSpPr>
          <p:spPr>
            <a:xfrm>
              <a:off x="1916811" y="488562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Ternaria</a:t>
              </a:r>
              <a:endParaRPr/>
            </a:p>
          </p:txBody>
        </p:sp>
        <p:cxnSp>
          <p:nvCxnSpPr>
            <p:cNvPr id="518" name="Google Shape;518;p21"/>
            <p:cNvCxnSpPr/>
            <p:nvPr/>
          </p:nvCxnSpPr>
          <p:spPr>
            <a:xfrm>
              <a:off x="1783080" y="932709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9" name="Google Shape;519;p21"/>
            <p:cNvSpPr/>
            <p:nvPr/>
          </p:nvSpPr>
          <p:spPr>
            <a:xfrm>
              <a:off x="1916811" y="954916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1"/>
            <p:cNvSpPr txBox="1"/>
            <p:nvPr/>
          </p:nvSpPr>
          <p:spPr>
            <a:xfrm>
              <a:off x="1916811" y="954916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N-aria</a:t>
              </a:r>
              <a:endParaRPr/>
            </a:p>
          </p:txBody>
        </p:sp>
        <p:cxnSp>
          <p:nvCxnSpPr>
            <p:cNvPr id="521" name="Google Shape;521;p21"/>
            <p:cNvCxnSpPr/>
            <p:nvPr/>
          </p:nvCxnSpPr>
          <p:spPr>
            <a:xfrm>
              <a:off x="1783080" y="1399064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2" name="Google Shape;522;p21"/>
            <p:cNvSpPr/>
            <p:nvPr/>
          </p:nvSpPr>
          <p:spPr>
            <a:xfrm>
              <a:off x="1916811" y="1421271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1"/>
            <p:cNvSpPr txBox="1"/>
            <p:nvPr/>
          </p:nvSpPr>
          <p:spPr>
            <a:xfrm>
              <a:off x="1916811" y="1421271"/>
              <a:ext cx="6998589" cy="4441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Recursiva</a:t>
              </a:r>
              <a:endParaRPr/>
            </a:p>
          </p:txBody>
        </p:sp>
        <p:cxnSp>
          <p:nvCxnSpPr>
            <p:cNvPr id="524" name="Google Shape;524;p21"/>
            <p:cNvCxnSpPr/>
            <p:nvPr/>
          </p:nvCxnSpPr>
          <p:spPr>
            <a:xfrm>
              <a:off x="1783080" y="1865418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21"/>
            <p:cNvCxnSpPr/>
            <p:nvPr/>
          </p:nvCxnSpPr>
          <p:spPr>
            <a:xfrm>
              <a:off x="0" y="1889125"/>
              <a:ext cx="891540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539E3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6" name="Google Shape;526;p21"/>
            <p:cNvSpPr/>
            <p:nvPr/>
          </p:nvSpPr>
          <p:spPr>
            <a:xfrm>
              <a:off x="0" y="1889125"/>
              <a:ext cx="1783080" cy="188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1"/>
            <p:cNvSpPr txBox="1"/>
            <p:nvPr/>
          </p:nvSpPr>
          <p:spPr>
            <a:xfrm>
              <a:off x="0" y="1889125"/>
              <a:ext cx="1783080" cy="1889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Cardinalidad de la relación</a:t>
              </a: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1916811" y="1918642"/>
              <a:ext cx="6998589" cy="590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1"/>
            <p:cNvSpPr txBox="1"/>
            <p:nvPr/>
          </p:nvSpPr>
          <p:spPr>
            <a:xfrm>
              <a:off x="1916811" y="1918642"/>
              <a:ext cx="6998589" cy="590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Define el grado de relación existente en una agregación</a:t>
              </a:r>
              <a:endParaRPr/>
            </a:p>
          </p:txBody>
        </p:sp>
        <p:cxnSp>
          <p:nvCxnSpPr>
            <p:cNvPr id="530" name="Google Shape;530;p21"/>
            <p:cNvCxnSpPr/>
            <p:nvPr/>
          </p:nvCxnSpPr>
          <p:spPr>
            <a:xfrm>
              <a:off x="1783080" y="2508994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1" name="Google Shape;531;p21"/>
            <p:cNvSpPr/>
            <p:nvPr/>
          </p:nvSpPr>
          <p:spPr>
            <a:xfrm>
              <a:off x="1916811" y="2538511"/>
              <a:ext cx="6998589" cy="590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1"/>
            <p:cNvSpPr txBox="1"/>
            <p:nvPr/>
          </p:nvSpPr>
          <p:spPr>
            <a:xfrm>
              <a:off x="1916811" y="2538511"/>
              <a:ext cx="6998589" cy="590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Cardinalidad Máxima</a:t>
              </a:r>
              <a:endParaRPr/>
            </a:p>
          </p:txBody>
        </p:sp>
        <p:cxnSp>
          <p:nvCxnSpPr>
            <p:cNvPr id="533" name="Google Shape;533;p21"/>
            <p:cNvCxnSpPr/>
            <p:nvPr/>
          </p:nvCxnSpPr>
          <p:spPr>
            <a:xfrm>
              <a:off x="1783080" y="3128863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4" name="Google Shape;534;p21"/>
            <p:cNvSpPr/>
            <p:nvPr/>
          </p:nvSpPr>
          <p:spPr>
            <a:xfrm>
              <a:off x="1916811" y="3158380"/>
              <a:ext cx="6998589" cy="590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1"/>
            <p:cNvSpPr txBox="1"/>
            <p:nvPr/>
          </p:nvSpPr>
          <p:spPr>
            <a:xfrm>
              <a:off x="1916811" y="3158380"/>
              <a:ext cx="6998589" cy="590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b="0" i="0" lang="es-AR" sz="19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Cardinalidad Mínima</a:t>
              </a:r>
              <a:endParaRPr/>
            </a:p>
          </p:txBody>
        </p:sp>
        <p:cxnSp>
          <p:nvCxnSpPr>
            <p:cNvPr id="536" name="Google Shape;536;p21"/>
            <p:cNvCxnSpPr/>
            <p:nvPr/>
          </p:nvCxnSpPr>
          <p:spPr>
            <a:xfrm>
              <a:off x="1783080" y="3748732"/>
              <a:ext cx="7132320" cy="0"/>
            </a:xfrm>
            <a:prstGeom prst="straightConnector1">
              <a:avLst/>
            </a:prstGeom>
            <a:solidFill>
              <a:srgbClr val="539E36"/>
            </a:solidFill>
            <a:ln cap="rnd" cmpd="sng" w="15875">
              <a:solidFill>
                <a:srgbClr val="C1D5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37" name="Google Shape;537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538" name="Google Shape;538;p2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21" id="539" name="Google Shape;5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2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sp>
        <p:nvSpPr>
          <p:cNvPr id="545" name="Google Shape;545;p22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Ejemplos</a:t>
            </a:r>
            <a:endParaRPr/>
          </a:p>
        </p:txBody>
      </p:sp>
      <p:sp>
        <p:nvSpPr>
          <p:cNvPr id="546" name="Google Shape;546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547" name="Google Shape;547;p22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548" name="Google Shape;5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57" y="2783976"/>
            <a:ext cx="5220844" cy="77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2594" y="2783975"/>
            <a:ext cx="5246250" cy="77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551" y="4437843"/>
            <a:ext cx="5246248" cy="161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4953" y="3790448"/>
            <a:ext cx="3607591" cy="2527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2_22" id="552" name="Google Shape;5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sp>
        <p:nvSpPr>
          <p:cNvPr id="558" name="Google Shape;558;p23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Otros ejemplos</a:t>
            </a:r>
            <a:endParaRPr/>
          </a:p>
        </p:txBody>
      </p:sp>
      <p:sp>
        <p:nvSpPr>
          <p:cNvPr id="559" name="Google Shape;559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560" name="Google Shape;560;p2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561" name="Google Shape;5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12" y="3543830"/>
            <a:ext cx="5220844" cy="774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1078" y="3359635"/>
            <a:ext cx="5246250" cy="1918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2_23" id="563" name="Google Shape;5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4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sp>
        <p:nvSpPr>
          <p:cNvPr id="569" name="Google Shape;569;p24"/>
          <p:cNvSpPr txBox="1"/>
          <p:nvPr>
            <p:ph idx="1" type="body"/>
          </p:nvPr>
        </p:nvSpPr>
        <p:spPr>
          <a:xfrm>
            <a:off x="2589200" y="2133600"/>
            <a:ext cx="8915400" cy="21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Ejemplos</a:t>
            </a:r>
            <a:endParaRPr/>
          </a:p>
        </p:txBody>
      </p:sp>
      <p:sp>
        <p:nvSpPr>
          <p:cNvPr id="570" name="Google Shape;570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571" name="Google Shape;571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id="572" name="Google Shape;57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7810" y="2688583"/>
            <a:ext cx="7761401" cy="1333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2942" y="4484461"/>
            <a:ext cx="7621670" cy="22103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2_24" id="574" name="Google Shape;57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1575" y="414527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5170" y="1688786"/>
            <a:ext cx="721995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5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 ER</a:t>
            </a:r>
            <a:endParaRPr/>
          </a:p>
        </p:txBody>
      </p:sp>
      <p:sp>
        <p:nvSpPr>
          <p:cNvPr id="581" name="Google Shape;581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582" name="Google Shape;582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25" id="583" name="Google Shape;5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3075" y="3473775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6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</a:t>
            </a:r>
            <a:endParaRPr/>
          </a:p>
        </p:txBody>
      </p:sp>
      <p:sp>
        <p:nvSpPr>
          <p:cNvPr id="589" name="Google Shape;589;p26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Ejemplo 1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Se tiene información de automotores, en un problema que maneja los siguientes datos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Se conoce informacion de autos:  color, patente, numero de chasis, numero de motor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Se conocen marcas de autos: nombre de la marca, abreviatura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Se sabe que cada auto pertenece a un marca y cada marca puede tener varios autos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Ejemplo 2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Al problema anteriores se le agrega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se tiene informacion sobre personas: nombre, domicilio, dni, telefonos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Se sabe que una persona puede ser propietario de uno o mas autos y que, ademas, los autos son propiedad de una o mas personas.   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ct val="100000"/>
              <a:buChar char="🠶"/>
            </a:pPr>
            <a:r>
              <a:rPr lang="es-AR"/>
              <a:t>Se debe conocer desde que fecha una persona es dueña de un auto.3</a:t>
            </a:r>
            <a:endParaRPr/>
          </a:p>
        </p:txBody>
      </p:sp>
      <p:sp>
        <p:nvSpPr>
          <p:cNvPr id="590" name="Google Shape;590;p2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591" name="Google Shape;591;p2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26" id="592" name="Google Shape;5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45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7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</a:t>
            </a:r>
            <a:endParaRPr/>
          </a:p>
        </p:txBody>
      </p:sp>
      <p:sp>
        <p:nvSpPr>
          <p:cNvPr id="598" name="Google Shape;598;p27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 3	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se desea diseñar el esquema conceptual de una Base de Datos de flotas de aviones de diferentes líneas aéreas.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Cada línea aérea posee un nombre, fecha de fundación, país de origen, cantidad de empleados, entre otros datos de interés no relevantes para este problema.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Una línea aérea tiene aviones. Por cada avión se conoce la fecha de compra 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De cada avión se dispone el número de serie, la marca (por ejemplo Boeing, Airbus, Embraer, etc.), el modelo (B737, A320, etc.), la cantidad de asientos y la fecha de fabricación.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 4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Además, por cada avión se dispone la historia de servicios técnicos. De cada servicio técnico, el cual pertenece sólo a un avión, se conoce la empresa que lo realizó, la fecha y el precio. </a:t>
            </a:r>
            <a:endParaRPr/>
          </a:p>
          <a:p>
            <a:pPr indent="-228600" lvl="0" marL="342900" rtl="0" algn="l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599" name="Google Shape;599;p2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600" name="Google Shape;600;p2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27" id="601" name="Google Shape;60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8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AR"/>
              <a:t>Modelo conceptual</a:t>
            </a:r>
            <a:endParaRPr/>
          </a:p>
        </p:txBody>
      </p:sp>
      <p:sp>
        <p:nvSpPr>
          <p:cNvPr id="607" name="Google Shape;607;p28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AR"/>
              <a:t>Ejemplo 5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AR"/>
              <a:t>Un problema de un consorcio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Se aministran deptartamentos. De cada departamento se sabe piso y letra, metros cuadrados que ocupa, cantidad de habitaciones, cantidad de baños y porcenaje que paga de expensas.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La adminitracion tiene informacion de las personas que viven o son propietarias del los departamentos.  De cada persona se sabe nombre, telefonos, documento.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Cada departamento es propiedad de una persona pero anteriormente puedo haber sido propiedad de otra persona.  Es necesario conocer la historia de los dueños y desde cuando es dueño cada persona.</a:t>
            </a:r>
            <a:endParaRPr/>
          </a:p>
          <a:p>
            <a:pPr indent="-228600" lvl="2" marL="1143000" rtl="0" algn="l">
              <a:spcBef>
                <a:spcPts val="1000"/>
              </a:spcBef>
              <a:spcAft>
                <a:spcPts val="0"/>
              </a:spcAft>
              <a:buSzPts val="1400"/>
              <a:buChar char="🠶"/>
            </a:pPr>
            <a:r>
              <a:rPr lang="es-AR"/>
              <a:t>Cada departamento puede o no estar alquilado, en ese caso es importante saber quien lo alquila y desde cuando.  Tenga en cuenta que a lo largo de la historia un departamento puede haber estado alquilado por varias personas y es necesario saber esa información.</a:t>
            </a:r>
            <a:endParaRPr/>
          </a:p>
        </p:txBody>
      </p:sp>
      <p:sp>
        <p:nvSpPr>
          <p:cNvPr id="608" name="Google Shape;608;p2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DBD  - CLASE 1</a:t>
            </a:r>
            <a:endParaRPr/>
          </a:p>
        </p:txBody>
      </p:sp>
      <p:sp>
        <p:nvSpPr>
          <p:cNvPr id="609" name="Google Shape;609;p28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c2_28" id="610" name="Google Shape;6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9600" y="3022600"/>
            <a:ext cx="812800" cy="8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spiral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2014-08-28T15:33:23Z</dcterms:created>
  <dc:creator>Pampa</dc:creator>
</cp:coreProperties>
</file>