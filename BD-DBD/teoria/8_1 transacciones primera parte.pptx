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embeddedFontLst>
    <p:embeddedFont>
      <p:font typeface="Corbel"/>
      <p:regular r:id="rId26"/>
      <p:bold r:id="rId27"/>
      <p:italic r:id="rId28"/>
      <p:boldItalic r:id="rId29"/>
    </p:embeddedFont>
    <p:embeddedFont>
      <p:font typeface="Tahoma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iulWYH+dOguKClYE49eDDDaNtv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orbel-regular.fntdata"/><Relationship Id="rId25" Type="http://schemas.openxmlformats.org/officeDocument/2006/relationships/slide" Target="slides/slide20.xml"/><Relationship Id="rId28" Type="http://schemas.openxmlformats.org/officeDocument/2006/relationships/font" Target="fonts/Corbel-italic.fntdata"/><Relationship Id="rId27" Type="http://schemas.openxmlformats.org/officeDocument/2006/relationships/font" Target="fonts/Corbel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orbel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Tahoma-bold.fntdata"/><Relationship Id="rId30" Type="http://schemas.openxmlformats.org/officeDocument/2006/relationships/font" Target="fonts/Tahoma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430" name="Google Shape;43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1" name="Google Shape;43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2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22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22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22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22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5E0D0E"/>
            </a:solidFill>
            <a:ln>
              <a:noFill/>
            </a:ln>
          </p:spPr>
        </p:sp>
        <p:sp>
          <p:nvSpPr>
            <p:cNvPr id="28" name="Google Shape;28;p22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1415"/>
            </a:solidFill>
            <a:ln>
              <a:noFill/>
            </a:ln>
          </p:spPr>
        </p:sp>
        <p:sp>
          <p:nvSpPr>
            <p:cNvPr id="29" name="Google Shape;29;p22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22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2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0" name="Google Shape;50;p25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8D1415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8" name="Google Shape;58;p26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8D1415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9" name="Google Shape;59;p26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0" name="Google Shape;60;p2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5" name="Google Shape;75;p29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6" name="Google Shape;76;p2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0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0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320"/>
              </a:spcBef>
              <a:spcAft>
                <a:spcPts val="0"/>
              </a:spcAft>
              <a:buClr>
                <a:srgbClr val="8D1415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rgbClr val="8D1415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rgbClr val="8D1415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600"/>
              </a:spcBef>
              <a:spcAft>
                <a:spcPts val="0"/>
              </a:spcAft>
              <a:buClr>
                <a:srgbClr val="8D1415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600"/>
              </a:spcBef>
              <a:spcAft>
                <a:spcPts val="0"/>
              </a:spcAft>
              <a:buClr>
                <a:srgbClr val="8D1415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rgbClr val="8D1415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600"/>
              </a:spcBef>
              <a:spcAft>
                <a:spcPts val="0"/>
              </a:spcAft>
              <a:buClr>
                <a:srgbClr val="8D1415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600"/>
              </a:spcBef>
              <a:spcAft>
                <a:spcPts val="0"/>
              </a:spcAft>
              <a:buClr>
                <a:srgbClr val="8D1415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600"/>
              </a:spcBef>
              <a:spcAft>
                <a:spcPts val="600"/>
              </a:spcAft>
              <a:buClr>
                <a:srgbClr val="8D1415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2" name="Google Shape;82;p30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3" name="Google Shape;83;p3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1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1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320"/>
              </a:spcBef>
              <a:spcAft>
                <a:spcPts val="0"/>
              </a:spcAft>
              <a:buClr>
                <a:srgbClr val="8D1415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rgbClr val="8D1415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rgbClr val="8D1415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600"/>
              </a:spcBef>
              <a:spcAft>
                <a:spcPts val="0"/>
              </a:spcAft>
              <a:buClr>
                <a:srgbClr val="8D1415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600"/>
              </a:spcBef>
              <a:spcAft>
                <a:spcPts val="0"/>
              </a:spcAft>
              <a:buClr>
                <a:srgbClr val="8D1415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rgbClr val="8D1415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600"/>
              </a:spcBef>
              <a:spcAft>
                <a:spcPts val="0"/>
              </a:spcAft>
              <a:buClr>
                <a:srgbClr val="8D1415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600"/>
              </a:spcBef>
              <a:spcAft>
                <a:spcPts val="0"/>
              </a:spcAft>
              <a:buClr>
                <a:srgbClr val="8D1415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600"/>
              </a:spcBef>
              <a:spcAft>
                <a:spcPts val="600"/>
              </a:spcAft>
              <a:buClr>
                <a:srgbClr val="8D1415"/>
              </a:buClr>
              <a:buSzPts val="232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9" name="Google Shape;89;p31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0" name="Google Shape;90;p3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2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2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3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s-AR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01" name="Google Shape;101;p33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s-AR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02" name="Google Shape;102;p33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3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4" name="Google Shape;104;p33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3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4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4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3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la tarjeta de nombre">
  <p:cSld name="Citar la tarjeta de nombre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5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s-AR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16" name="Google Shape;116;p35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s-AR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17" name="Google Shape;117;p35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5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9" name="Google Shape;119;p35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3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ro o falso">
  <p:cSld name="Verdadero o falso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6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6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6" name="Google Shape;126;p36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3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7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3" name="Google Shape;133;p3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8"/>
          <p:cNvSpPr txBox="1"/>
          <p:nvPr>
            <p:ph type="title"/>
          </p:nvPr>
        </p:nvSpPr>
        <p:spPr>
          <a:xfrm rot="5400000">
            <a:off x="8065140" y="2353315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8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9" name="Google Shape;139;p3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1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21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21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21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21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0D0E"/>
            </a:solidFill>
            <a:ln>
              <a:noFill/>
            </a:ln>
          </p:spPr>
        </p:sp>
        <p:sp>
          <p:nvSpPr>
            <p:cNvPr id="15" name="Google Shape;15;p21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8D1415"/>
            </a:solidFill>
            <a:ln>
              <a:noFill/>
            </a:ln>
          </p:spPr>
        </p:sp>
        <p:sp>
          <p:nvSpPr>
            <p:cNvPr id="16" name="Google Shape;16;p21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2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8D1415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8D1415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8D1415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8D1415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8D1415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8D1415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8D1415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8D1415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spcBef>
                <a:spcPts val="600"/>
              </a:spcBef>
              <a:spcAft>
                <a:spcPts val="600"/>
              </a:spcAft>
              <a:buClr>
                <a:srgbClr val="8D1415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2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2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2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2589214" y="1664594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s-AR"/>
              <a:t>Diseño de Bases de Dato</a:t>
            </a:r>
            <a:br>
              <a:rPr lang="es-AR"/>
            </a:br>
            <a:endParaRPr/>
          </a:p>
        </p:txBody>
      </p: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2472745" y="4777379"/>
            <a:ext cx="9031868" cy="1649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>
            <p:ph type="title"/>
          </p:nvPr>
        </p:nvSpPr>
        <p:spPr>
          <a:xfrm>
            <a:off x="1484310" y="130215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s-AR"/>
              <a:t>Seguridad e Integridad de datos: Agenda</a:t>
            </a:r>
            <a:endParaRPr/>
          </a:p>
        </p:txBody>
      </p:sp>
      <p:grpSp>
        <p:nvGrpSpPr>
          <p:cNvPr id="155" name="Google Shape;155;p2"/>
          <p:cNvGrpSpPr/>
          <p:nvPr/>
        </p:nvGrpSpPr>
        <p:grpSpPr>
          <a:xfrm>
            <a:off x="1598049" y="2022551"/>
            <a:ext cx="10352475" cy="3875851"/>
            <a:chOff x="1069" y="568"/>
            <a:chExt cx="10352475" cy="3875851"/>
          </a:xfrm>
        </p:grpSpPr>
        <p:sp>
          <p:nvSpPr>
            <p:cNvPr id="156" name="Google Shape;156;p2"/>
            <p:cNvSpPr/>
            <p:nvPr/>
          </p:nvSpPr>
          <p:spPr>
            <a:xfrm rot="5400000">
              <a:off x="6290619" y="-2778308"/>
              <a:ext cx="1069200" cy="6626952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E7CBCB">
                <a:alpha val="89803"/>
              </a:srgbClr>
            </a:solidFill>
            <a:ln cap="rnd" cmpd="sng" w="15875">
              <a:solidFill>
                <a:srgbClr val="E7CBCB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"/>
            <p:cNvSpPr txBox="1"/>
            <p:nvPr/>
          </p:nvSpPr>
          <p:spPr>
            <a:xfrm>
              <a:off x="3511743" y="52762"/>
              <a:ext cx="6574758" cy="964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825" lIns="247650" spcFirstLastPara="1" rIns="247650" wrap="square" tIns="123825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orbel"/>
                <a:buChar char="•"/>
              </a:pPr>
              <a:r>
                <a:rPr b="0" i="0" lang="es-AR" sz="36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Propidades</a:t>
              </a:r>
              <a:endParaRPr b="0" i="0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54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orbel"/>
                <a:buChar char="•"/>
              </a:pPr>
              <a:r>
                <a:rPr b="0" i="0" lang="es-AR" sz="36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Estados</a:t>
              </a: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069" y="17421"/>
              <a:ext cx="3510673" cy="989946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"/>
            <p:cNvSpPr txBox="1"/>
            <p:nvPr/>
          </p:nvSpPr>
          <p:spPr>
            <a:xfrm>
              <a:off x="49394" y="65746"/>
              <a:ext cx="3414023" cy="8932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4275" lIns="148575" spcFirstLastPara="1" rIns="148575" wrap="square" tIns="7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900"/>
                <a:buFont typeface="Corbel"/>
                <a:buNone/>
              </a:pPr>
              <a:r>
                <a:rPr b="0" i="0" lang="es-AR" sz="39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Transacciones</a:t>
              </a: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 rot="5400000">
              <a:off x="6337149" y="-1565807"/>
              <a:ext cx="1291487" cy="6741303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E7CBCB">
                <a:alpha val="89803"/>
              </a:srgbClr>
            </a:solidFill>
            <a:ln cap="rnd" cmpd="sng" w="15875">
              <a:solidFill>
                <a:srgbClr val="E7CBCB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"/>
            <p:cNvSpPr txBox="1"/>
            <p:nvPr/>
          </p:nvSpPr>
          <p:spPr>
            <a:xfrm>
              <a:off x="3612242" y="1222145"/>
              <a:ext cx="6678258" cy="11653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825" lIns="247650" spcFirstLastPara="1" rIns="247650" wrap="square" tIns="123825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orbel"/>
                <a:buChar char="•"/>
              </a:pPr>
              <a:r>
                <a:rPr b="0" i="0" lang="es-AR" sz="36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Atomicidad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54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orbel"/>
                <a:buChar char="•"/>
              </a:pPr>
              <a:r>
                <a:rPr b="0" i="0" lang="es-AR" sz="36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Protocolos</a:t>
              </a: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1069" y="1136593"/>
              <a:ext cx="3611171" cy="1336500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"/>
            <p:cNvSpPr txBox="1"/>
            <p:nvPr/>
          </p:nvSpPr>
          <p:spPr>
            <a:xfrm>
              <a:off x="66312" y="1201836"/>
              <a:ext cx="3480685" cy="12060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137150" spcFirstLastPara="1" rIns="137150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Corbel"/>
                <a:buNone/>
              </a:pPr>
              <a:r>
                <a:rPr b="0" i="0" lang="es-AR" sz="36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Transacciones monusuarias</a:t>
              </a:r>
              <a:endParaRPr b="0" i="0" sz="3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4" name="Google Shape;164;p2"/>
            <p:cNvSpPr/>
            <p:nvPr/>
          </p:nvSpPr>
          <p:spPr>
            <a:xfrm rot="5400000">
              <a:off x="6362568" y="-123863"/>
              <a:ext cx="1316303" cy="6664066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E7CBCB">
                <a:alpha val="89803"/>
              </a:srgbClr>
            </a:solidFill>
            <a:ln cap="rnd" cmpd="sng" w="15875">
              <a:solidFill>
                <a:srgbClr val="E7CBCB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"/>
            <p:cNvSpPr txBox="1"/>
            <p:nvPr/>
          </p:nvSpPr>
          <p:spPr>
            <a:xfrm>
              <a:off x="3688687" y="2614275"/>
              <a:ext cx="6599809" cy="1187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3825" lIns="247650" spcFirstLastPara="1" rIns="247650" wrap="square" tIns="123825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orbel"/>
                <a:buChar char="•"/>
              </a:pPr>
              <a:r>
                <a:rPr b="0" i="0" lang="es-AR" sz="2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Aislamiento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orbel"/>
                <a:buChar char="•"/>
              </a:pPr>
              <a:r>
                <a:rPr b="0" i="0" lang="es-AR" sz="2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Consistencia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orbel"/>
                <a:buChar char="•"/>
              </a:pPr>
              <a:r>
                <a:rPr b="0" i="0" lang="es-AR" sz="2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Durabilidad</a:t>
              </a: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069" y="2539919"/>
              <a:ext cx="3687617" cy="1336500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"/>
            <p:cNvSpPr txBox="1"/>
            <p:nvPr/>
          </p:nvSpPr>
          <p:spPr>
            <a:xfrm>
              <a:off x="66312" y="2605162"/>
              <a:ext cx="3557131" cy="12060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137150" spcFirstLastPara="1" rIns="137150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Corbel"/>
                <a:buNone/>
              </a:pPr>
              <a:r>
                <a:rPr b="0" i="0" lang="es-AR" sz="36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Transacciones centralizadas</a:t>
              </a:r>
              <a:endParaRPr/>
            </a:p>
          </p:txBody>
        </p:sp>
      </p:grpSp>
      <p:sp>
        <p:nvSpPr>
          <p:cNvPr id="168" name="Google Shape;168;p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8_1                  " id="170" name="Google Shape;1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73" y="2759364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"/>
          <p:cNvSpPr txBox="1"/>
          <p:nvPr>
            <p:ph type="title"/>
          </p:nvPr>
        </p:nvSpPr>
        <p:spPr>
          <a:xfrm>
            <a:off x="1484310" y="11864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s-AR"/>
              <a:t>Transacciones</a:t>
            </a:r>
            <a:endParaRPr/>
          </a:p>
        </p:txBody>
      </p:sp>
      <p:grpSp>
        <p:nvGrpSpPr>
          <p:cNvPr id="176" name="Google Shape;176;p3"/>
          <p:cNvGrpSpPr/>
          <p:nvPr/>
        </p:nvGrpSpPr>
        <p:grpSpPr>
          <a:xfrm>
            <a:off x="1553761" y="1783451"/>
            <a:ext cx="10018712" cy="4092120"/>
            <a:chOff x="0" y="7702"/>
            <a:chExt cx="10018712" cy="4092120"/>
          </a:xfrm>
        </p:grpSpPr>
        <p:sp>
          <p:nvSpPr>
            <p:cNvPr id="177" name="Google Shape;177;p3"/>
            <p:cNvSpPr/>
            <p:nvPr/>
          </p:nvSpPr>
          <p:spPr>
            <a:xfrm>
              <a:off x="0" y="7702"/>
              <a:ext cx="10018712" cy="1074060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3"/>
            <p:cNvSpPr txBox="1"/>
            <p:nvPr/>
          </p:nvSpPr>
          <p:spPr>
            <a:xfrm>
              <a:off x="52431" y="60133"/>
              <a:ext cx="9913850" cy="969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Corbel"/>
                <a:buNone/>
              </a:pPr>
              <a:r>
                <a:rPr b="0" i="0" lang="es-AR" sz="27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Transacción: colección de operaciones que forman una única unidad lógica de trabajo.</a:t>
              </a: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0" y="1081762"/>
              <a:ext cx="10018712" cy="30180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3"/>
            <p:cNvSpPr txBox="1"/>
            <p:nvPr/>
          </p:nvSpPr>
          <p:spPr>
            <a:xfrm>
              <a:off x="0" y="1081762"/>
              <a:ext cx="10018712" cy="30180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318075" spcFirstLastPara="1" rIns="192000" wrap="square" tIns="3427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Propiedades  </a:t>
              </a:r>
              <a:r>
                <a:rPr b="1" i="0" lang="es-AR" sz="2100" u="none" cap="none" strike="noStrike">
                  <a:solidFill>
                    <a:schemeClr val="folHlink"/>
                  </a:solidFill>
                  <a:latin typeface="Corbel"/>
                  <a:ea typeface="Corbel"/>
                  <a:cs typeface="Corbel"/>
                  <a:sym typeface="Corbel"/>
                </a:rPr>
                <a:t>ACID</a:t>
              </a:r>
              <a:endParaRPr/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Atomicidad: todas las operaciones de la transacción se ejecutan o no lo hacen ninguna de ellas</a:t>
              </a:r>
              <a:endParaRPr/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Consistencia: la ejecución aislada de la transacción conserva la consistencia de la BD</a:t>
              </a:r>
              <a:endParaRPr/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Aislamiento (isolation): cada transacción ignora el resto de las transacciones que se ejecutan concurrentemente en el sistema, actúa c/u como única.</a:t>
              </a:r>
              <a:endParaRPr/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Durabilidad: una transacción terminada con éxito realiza cambios permanentes en la BD, incluso si hay fallos en el sistema</a:t>
              </a:r>
              <a:endPara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81" name="Google Shape;181;p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8_3" id="183" name="Google Shape;18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127" y="3147291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 txBox="1"/>
          <p:nvPr>
            <p:ph type="title"/>
          </p:nvPr>
        </p:nvSpPr>
        <p:spPr>
          <a:xfrm>
            <a:off x="1484310" y="-7936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s-AR"/>
              <a:t>Transacciones</a:t>
            </a:r>
            <a:endParaRPr/>
          </a:p>
        </p:txBody>
      </p:sp>
      <p:grpSp>
        <p:nvGrpSpPr>
          <p:cNvPr id="189" name="Google Shape;189;p4"/>
          <p:cNvGrpSpPr/>
          <p:nvPr/>
        </p:nvGrpSpPr>
        <p:grpSpPr>
          <a:xfrm>
            <a:off x="1588485" y="1908495"/>
            <a:ext cx="10018712" cy="3387285"/>
            <a:chOff x="0" y="433687"/>
            <a:chExt cx="10018712" cy="3387285"/>
          </a:xfrm>
        </p:grpSpPr>
        <p:sp>
          <p:nvSpPr>
            <p:cNvPr id="190" name="Google Shape;190;p4"/>
            <p:cNvSpPr/>
            <p:nvPr/>
          </p:nvSpPr>
          <p:spPr>
            <a:xfrm>
              <a:off x="0" y="433687"/>
              <a:ext cx="10018712" cy="791505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4"/>
            <p:cNvSpPr txBox="1"/>
            <p:nvPr/>
          </p:nvSpPr>
          <p:spPr>
            <a:xfrm>
              <a:off x="38638" y="472325"/>
              <a:ext cx="9941436" cy="7142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5725" lIns="125725" spcFirstLastPara="1" rIns="125725" wrap="square" tIns="12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Corbel"/>
                <a:buNone/>
              </a:pPr>
              <a:r>
                <a:rPr b="0" i="0" lang="es-AR" sz="33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Estados de una transacción</a:t>
              </a:r>
              <a:endParaRPr b="0" i="0" sz="33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0" y="1225192"/>
              <a:ext cx="10018712" cy="2595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4"/>
            <p:cNvSpPr txBox="1"/>
            <p:nvPr/>
          </p:nvSpPr>
          <p:spPr>
            <a:xfrm>
              <a:off x="0" y="1225192"/>
              <a:ext cx="10018712" cy="2595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900" lIns="318075" spcFirstLastPara="1" rIns="234675" wrap="square" tIns="419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orbel"/>
                <a:buChar char="•"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Activa: estado inicial, estado normal durante la ejecución.</a:t>
              </a:r>
              <a:endParaRPr b="0" i="0" sz="2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52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orbel"/>
                <a:buChar char="•"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Parcialmente Cometida: después de ejecutarse la última instrucción</a:t>
              </a:r>
              <a:endParaRPr b="0" i="0" sz="2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52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orbel"/>
                <a:buChar char="•"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Fallada: luego de descubrir que no puede seguir la ejecución normal</a:t>
              </a:r>
              <a:endParaRPr b="0" i="0" sz="2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52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orbel"/>
                <a:buChar char="•"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Abortada: después de haber retrocedido la transacción y restablecido la BD al estado anterior al comienzo de la transacción.</a:t>
              </a:r>
              <a:endParaRPr b="0" i="0" sz="2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52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orbel"/>
                <a:buChar char="•"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Cometida: tras completarse con éxito.</a:t>
              </a:r>
              <a:endParaRPr b="0" i="0" sz="2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94" name="Google Shape;194;p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8_4" id="196" name="Google Shape;19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98" y="2789338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"/>
          <p:cNvSpPr txBox="1"/>
          <p:nvPr>
            <p:ph type="title"/>
          </p:nvPr>
        </p:nvSpPr>
        <p:spPr>
          <a:xfrm>
            <a:off x="1484310" y="90489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s-AR"/>
              <a:t>Transacciones</a:t>
            </a:r>
            <a:endParaRPr/>
          </a:p>
        </p:txBody>
      </p:sp>
      <p:grpSp>
        <p:nvGrpSpPr>
          <p:cNvPr id="202" name="Google Shape;202;p5"/>
          <p:cNvGrpSpPr/>
          <p:nvPr/>
        </p:nvGrpSpPr>
        <p:grpSpPr>
          <a:xfrm>
            <a:off x="1983906" y="1498092"/>
            <a:ext cx="8915400" cy="3769740"/>
            <a:chOff x="0" y="4254"/>
            <a:chExt cx="8915400" cy="3769740"/>
          </a:xfrm>
        </p:grpSpPr>
        <p:sp>
          <p:nvSpPr>
            <p:cNvPr id="203" name="Google Shape;203;p5"/>
            <p:cNvSpPr/>
            <p:nvPr/>
          </p:nvSpPr>
          <p:spPr>
            <a:xfrm>
              <a:off x="0" y="4254"/>
              <a:ext cx="8915400" cy="863460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5"/>
            <p:cNvSpPr txBox="1"/>
            <p:nvPr/>
          </p:nvSpPr>
          <p:spPr>
            <a:xfrm>
              <a:off x="42151" y="46405"/>
              <a:ext cx="8831098" cy="779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137150" spcFirstLastPara="1" rIns="137150" wrap="square" tIns="13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Corbel"/>
                <a:buNone/>
              </a:pPr>
              <a:r>
                <a:rPr b="0" i="0" lang="es-AR" sz="36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Diagrama de estado de una transacción</a:t>
              </a:r>
              <a:endParaRPr b="0" i="0" sz="3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0" y="867714"/>
              <a:ext cx="8915400" cy="2906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5"/>
            <p:cNvSpPr txBox="1"/>
            <p:nvPr/>
          </p:nvSpPr>
          <p:spPr>
            <a:xfrm>
              <a:off x="0" y="867714"/>
              <a:ext cx="8915400" cy="2906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283050" spcFirstLastPara="1" rIns="256025" wrap="square" tIns="45700">
              <a:noAutofit/>
            </a:bodyPr>
            <a:lstStyle/>
            <a:p>
              <a:pPr indent="-1079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orbel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107950" lvl="1" marL="285750" marR="0" rtl="0" algn="l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orbel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107950" lvl="1" marL="285750" marR="0" rtl="0" algn="l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orbel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107950" lvl="1" marL="285750" marR="0" rtl="0" algn="l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orbel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107950" lvl="1" marL="285750" marR="0" rtl="0" algn="l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orbel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107950" lvl="1" marL="285750" marR="0" rtl="0" algn="l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orbel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07" name="Google Shape;207;p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2743200" y="3976688"/>
            <a:ext cx="914400" cy="914400"/>
          </a:xfrm>
          <a:prstGeom prst="ellipse">
            <a:avLst/>
          </a:prstGeom>
          <a:solidFill>
            <a:srgbClr val="B2B2B2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b="0" i="0" lang="es-AR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Activa</a:t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4800600" y="4891088"/>
            <a:ext cx="1143000" cy="914400"/>
          </a:xfrm>
          <a:prstGeom prst="ellipse">
            <a:avLst/>
          </a:prstGeom>
          <a:solidFill>
            <a:srgbClr val="B2B2B2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b="0" i="0" lang="es-AR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Fallada</a:t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7848600" y="4738700"/>
            <a:ext cx="2072100" cy="990600"/>
          </a:xfrm>
          <a:prstGeom prst="ellipse">
            <a:avLst/>
          </a:prstGeom>
          <a:solidFill>
            <a:srgbClr val="B2B2B2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b="0" i="0" lang="es-AR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Abortada</a:t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4419600" y="3138488"/>
            <a:ext cx="1905000" cy="914400"/>
          </a:xfrm>
          <a:prstGeom prst="ellipse">
            <a:avLst/>
          </a:prstGeom>
          <a:solidFill>
            <a:srgbClr val="B2B2B2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b="0" i="0" lang="es-AR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Parcialmente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b="0" i="0" lang="es-AR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Cometida</a:t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7696200" y="3062300"/>
            <a:ext cx="2072100" cy="914400"/>
          </a:xfrm>
          <a:prstGeom prst="ellipse">
            <a:avLst/>
          </a:prstGeom>
          <a:solidFill>
            <a:srgbClr val="B2B2B2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b="0" i="0" lang="es-AR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Cometida</a:t>
            </a:r>
            <a:endParaRPr/>
          </a:p>
        </p:txBody>
      </p:sp>
      <p:cxnSp>
        <p:nvCxnSpPr>
          <p:cNvPr id="214" name="Google Shape;214;p5"/>
          <p:cNvCxnSpPr/>
          <p:nvPr/>
        </p:nvCxnSpPr>
        <p:spPr>
          <a:xfrm flipH="1" rot="10800000">
            <a:off x="3581400" y="3671888"/>
            <a:ext cx="838200" cy="53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15" name="Google Shape;215;p5"/>
          <p:cNvCxnSpPr/>
          <p:nvPr/>
        </p:nvCxnSpPr>
        <p:spPr>
          <a:xfrm>
            <a:off x="6324600" y="3519488"/>
            <a:ext cx="1371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16" name="Google Shape;216;p5"/>
          <p:cNvCxnSpPr/>
          <p:nvPr/>
        </p:nvCxnSpPr>
        <p:spPr>
          <a:xfrm>
            <a:off x="5334000" y="4052888"/>
            <a:ext cx="0" cy="83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17" name="Google Shape;217;p5"/>
          <p:cNvCxnSpPr/>
          <p:nvPr/>
        </p:nvCxnSpPr>
        <p:spPr>
          <a:xfrm>
            <a:off x="3581400" y="4662488"/>
            <a:ext cx="1219200" cy="53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18" name="Google Shape;218;p5"/>
          <p:cNvCxnSpPr/>
          <p:nvPr/>
        </p:nvCxnSpPr>
        <p:spPr>
          <a:xfrm>
            <a:off x="5943600" y="5272088"/>
            <a:ext cx="1828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pic>
        <p:nvPicPr>
          <p:cNvPr descr="c8_5" id="219" name="Google Shape;2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600" y="2859088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"/>
          <p:cNvSpPr txBox="1"/>
          <p:nvPr>
            <p:ph type="title"/>
          </p:nvPr>
        </p:nvSpPr>
        <p:spPr>
          <a:xfrm>
            <a:off x="1484310" y="199663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s-AR"/>
              <a:t>Transacciones</a:t>
            </a:r>
            <a:endParaRPr/>
          </a:p>
        </p:txBody>
      </p:sp>
      <p:grpSp>
        <p:nvGrpSpPr>
          <p:cNvPr id="225" name="Google Shape;225;p6"/>
          <p:cNvGrpSpPr/>
          <p:nvPr/>
        </p:nvGrpSpPr>
        <p:grpSpPr>
          <a:xfrm>
            <a:off x="2021983" y="1579866"/>
            <a:ext cx="9482630" cy="4310461"/>
            <a:chOff x="0" y="21522"/>
            <a:chExt cx="9482630" cy="4310461"/>
          </a:xfrm>
        </p:grpSpPr>
        <p:sp>
          <p:nvSpPr>
            <p:cNvPr id="226" name="Google Shape;226;p6"/>
            <p:cNvSpPr/>
            <p:nvPr/>
          </p:nvSpPr>
          <p:spPr>
            <a:xfrm>
              <a:off x="0" y="21522"/>
              <a:ext cx="9482630" cy="527670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6"/>
            <p:cNvSpPr txBox="1"/>
            <p:nvPr/>
          </p:nvSpPr>
          <p:spPr>
            <a:xfrm>
              <a:off x="25759" y="47281"/>
              <a:ext cx="9431112" cy="476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orbel"/>
                <a:buNone/>
              </a:pPr>
              <a:r>
                <a:rPr b="0" i="0" lang="es-AR" sz="22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Modelo de transacción	</a:t>
              </a:r>
              <a:endParaRPr b="0" i="0" sz="2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8" name="Google Shape;228;p6"/>
            <p:cNvSpPr/>
            <p:nvPr/>
          </p:nvSpPr>
          <p:spPr>
            <a:xfrm>
              <a:off x="0" y="549192"/>
              <a:ext cx="9482630" cy="17760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6"/>
            <p:cNvSpPr txBox="1"/>
            <p:nvPr/>
          </p:nvSpPr>
          <p:spPr>
            <a:xfrm>
              <a:off x="0" y="549192"/>
              <a:ext cx="9482630" cy="17760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925" lIns="301050" spcFirstLastPara="1" rIns="156450" wrap="square" tIns="279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orbel"/>
                <a:buChar char="•"/>
              </a:pPr>
              <a:r>
                <a:rPr b="0" i="0" lang="es-AR" sz="17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READ ( A, a1)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orbel"/>
                <a:buChar char="•"/>
              </a:pPr>
              <a:r>
                <a:rPr b="0" i="0" lang="es-AR" sz="17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a1 := a1 – 100;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orbel"/>
                <a:buChar char="•"/>
              </a:pPr>
              <a:r>
                <a:rPr b="0" i="0" lang="es-AR" sz="17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WRITE( A, a1)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orbel"/>
                <a:buChar char="•"/>
              </a:pPr>
              <a:r>
                <a:rPr b="0" i="0" lang="es-AR" sz="17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READ (B, b1)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orbel"/>
                <a:buChar char="•"/>
              </a:pPr>
              <a:r>
                <a:rPr b="0" i="0" lang="es-AR" sz="17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b1 := b1 + 100;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orbel"/>
                <a:buChar char="•"/>
              </a:pPr>
              <a:r>
                <a:rPr b="0" i="0" lang="es-AR" sz="17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WRITE(B, b1)</a:t>
              </a:r>
              <a:endParaRPr/>
            </a:p>
          </p:txBody>
        </p:sp>
        <p:sp>
          <p:nvSpPr>
            <p:cNvPr id="230" name="Google Shape;230;p6"/>
            <p:cNvSpPr/>
            <p:nvPr/>
          </p:nvSpPr>
          <p:spPr>
            <a:xfrm>
              <a:off x="0" y="2325253"/>
              <a:ext cx="9482630" cy="527670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6"/>
            <p:cNvSpPr txBox="1"/>
            <p:nvPr/>
          </p:nvSpPr>
          <p:spPr>
            <a:xfrm>
              <a:off x="25759" y="2351012"/>
              <a:ext cx="9431112" cy="476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orbel"/>
                <a:buNone/>
              </a:pPr>
              <a:r>
                <a:rPr b="0" i="0" lang="es-AR" sz="22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Diferencia entre READ, WRITE y INPUT, OUTPUT.</a:t>
              </a:r>
              <a:endParaRPr b="0" i="0" sz="2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0" y="2916283"/>
              <a:ext cx="9482630" cy="527670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6"/>
            <p:cNvSpPr txBox="1"/>
            <p:nvPr/>
          </p:nvSpPr>
          <p:spPr>
            <a:xfrm>
              <a:off x="25759" y="2942042"/>
              <a:ext cx="9431112" cy="476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orbel"/>
                <a:buNone/>
              </a:pPr>
              <a:r>
                <a:rPr b="0" i="0" lang="es-AR" sz="22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Uso de transacciones:</a:t>
              </a:r>
              <a:endParaRPr b="0" i="0" sz="2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0" y="3443953"/>
              <a:ext cx="9482630" cy="8880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6"/>
            <p:cNvSpPr txBox="1"/>
            <p:nvPr/>
          </p:nvSpPr>
          <p:spPr>
            <a:xfrm>
              <a:off x="0" y="3443953"/>
              <a:ext cx="9482630" cy="8880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925" lIns="301050" spcFirstLastPara="1" rIns="156450" wrap="square" tIns="279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orbel"/>
                <a:buChar char="•"/>
              </a:pPr>
              <a:r>
                <a:rPr b="0" i="0" lang="es-AR" sz="17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En sistemas monousuario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orbel"/>
                <a:buChar char="•"/>
              </a:pPr>
              <a:r>
                <a:rPr b="0" i="0" lang="es-AR" sz="17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En sistemas concurrentes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orbel"/>
                <a:buChar char="•"/>
              </a:pPr>
              <a:r>
                <a:rPr b="0" i="0" lang="es-AR" sz="17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En sistemas distribuidos</a:t>
              </a:r>
              <a:endParaRPr/>
            </a:p>
          </p:txBody>
        </p:sp>
      </p:grpSp>
      <p:sp>
        <p:nvSpPr>
          <p:cNvPr id="236" name="Google Shape;236;p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8_6" id="238" name="Google Shape;2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987" y="26162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"/>
          <p:cNvSpPr txBox="1"/>
          <p:nvPr>
            <p:ph type="title"/>
          </p:nvPr>
        </p:nvSpPr>
        <p:spPr>
          <a:xfrm>
            <a:off x="1484310" y="393627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s-AR"/>
              <a:t>Transacciones</a:t>
            </a:r>
            <a:endParaRPr/>
          </a:p>
        </p:txBody>
      </p:sp>
      <p:grpSp>
        <p:nvGrpSpPr>
          <p:cNvPr id="244" name="Google Shape;244;p7"/>
          <p:cNvGrpSpPr/>
          <p:nvPr/>
        </p:nvGrpSpPr>
        <p:grpSpPr>
          <a:xfrm>
            <a:off x="2086377" y="1745668"/>
            <a:ext cx="9418236" cy="4133403"/>
            <a:chOff x="0" y="32778"/>
            <a:chExt cx="9418236" cy="4133403"/>
          </a:xfrm>
        </p:grpSpPr>
        <p:sp>
          <p:nvSpPr>
            <p:cNvPr id="245" name="Google Shape;245;p7"/>
            <p:cNvSpPr/>
            <p:nvPr/>
          </p:nvSpPr>
          <p:spPr>
            <a:xfrm>
              <a:off x="0" y="32778"/>
              <a:ext cx="9418236" cy="496558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7"/>
            <p:cNvSpPr txBox="1"/>
            <p:nvPr/>
          </p:nvSpPr>
          <p:spPr>
            <a:xfrm>
              <a:off x="24240" y="57018"/>
              <a:ext cx="9369756" cy="4480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orbel"/>
                <a:buNone/>
              </a:pPr>
              <a:r>
                <a:rPr b="0" i="0" lang="es-AR" sz="2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Que hacer luego de un fallo?</a:t>
              </a:r>
              <a:endParaRPr/>
            </a:p>
          </p:txBody>
        </p:sp>
        <p:sp>
          <p:nvSpPr>
            <p:cNvPr id="247" name="Google Shape;247;p7"/>
            <p:cNvSpPr/>
            <p:nvPr/>
          </p:nvSpPr>
          <p:spPr>
            <a:xfrm>
              <a:off x="0" y="529336"/>
              <a:ext cx="9418236" cy="861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7"/>
            <p:cNvSpPr txBox="1"/>
            <p:nvPr/>
          </p:nvSpPr>
          <p:spPr>
            <a:xfrm>
              <a:off x="0" y="529336"/>
              <a:ext cx="9418236" cy="861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99025" spcFirstLastPara="1" rIns="142225" wrap="square" tIns="254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rbel"/>
                <a:buChar char="•"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Re-ejecutar la transacción fallada 🡪 no sirve</a:t>
              </a:r>
              <a:endPara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2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rbel"/>
                <a:buChar char="•"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Dejar el estado de la BD como está 🡪 no sirve</a:t>
              </a:r>
              <a:endParaRPr/>
            </a:p>
          </p:txBody>
        </p:sp>
        <p:sp>
          <p:nvSpPr>
            <p:cNvPr id="249" name="Google Shape;249;p7"/>
            <p:cNvSpPr/>
            <p:nvPr/>
          </p:nvSpPr>
          <p:spPr>
            <a:xfrm>
              <a:off x="0" y="1390456"/>
              <a:ext cx="9418236" cy="749388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7"/>
            <p:cNvSpPr txBox="1"/>
            <p:nvPr/>
          </p:nvSpPr>
          <p:spPr>
            <a:xfrm>
              <a:off x="36582" y="1427038"/>
              <a:ext cx="9345072" cy="676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orbel"/>
                <a:buNone/>
              </a:pPr>
              <a:r>
                <a:rPr b="0" i="0" lang="es-AR" sz="2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Problema: modificar la BD sin seguridad que la transacción se va a cometer.</a:t>
              </a:r>
              <a:endParaRPr/>
            </a:p>
          </p:txBody>
        </p:sp>
        <p:sp>
          <p:nvSpPr>
            <p:cNvPr id="251" name="Google Shape;251;p7"/>
            <p:cNvSpPr/>
            <p:nvPr/>
          </p:nvSpPr>
          <p:spPr>
            <a:xfrm>
              <a:off x="0" y="2139844"/>
              <a:ext cx="9418236" cy="529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7"/>
            <p:cNvSpPr txBox="1"/>
            <p:nvPr/>
          </p:nvSpPr>
          <p:spPr>
            <a:xfrm>
              <a:off x="0" y="2139844"/>
              <a:ext cx="9418236" cy="529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99025" spcFirstLastPara="1" rIns="142225" wrap="square" tIns="254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rbel"/>
                <a:buChar char="•"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Solución: indicar las modificaciones </a:t>
              </a:r>
              <a:endPara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0" y="2669764"/>
              <a:ext cx="9418236" cy="635297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7"/>
            <p:cNvSpPr txBox="1"/>
            <p:nvPr/>
          </p:nvSpPr>
          <p:spPr>
            <a:xfrm>
              <a:off x="31013" y="2700777"/>
              <a:ext cx="9356210" cy="5732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orbel"/>
                <a:buNone/>
              </a:pPr>
              <a:r>
                <a:rPr b="0" i="0" lang="es-AR" sz="2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Soluciones</a:t>
              </a:r>
              <a:endParaRPr/>
            </a:p>
          </p:txBody>
        </p:sp>
        <p:sp>
          <p:nvSpPr>
            <p:cNvPr id="255" name="Google Shape;255;p7"/>
            <p:cNvSpPr/>
            <p:nvPr/>
          </p:nvSpPr>
          <p:spPr>
            <a:xfrm>
              <a:off x="0" y="3305061"/>
              <a:ext cx="9418236" cy="861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7"/>
            <p:cNvSpPr txBox="1"/>
            <p:nvPr/>
          </p:nvSpPr>
          <p:spPr>
            <a:xfrm>
              <a:off x="0" y="3305061"/>
              <a:ext cx="9418236" cy="861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99025" spcFirstLastPara="1" rIns="142225" wrap="square" tIns="254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rbel"/>
                <a:buChar char="•"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Registro Historico</a:t>
              </a:r>
              <a:endPara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2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rbel"/>
                <a:buChar char="•"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Doble paginación</a:t>
              </a:r>
              <a:endParaRPr/>
            </a:p>
          </p:txBody>
        </p:sp>
      </p:grpSp>
      <p:sp>
        <p:nvSpPr>
          <p:cNvPr id="257" name="Google Shape;257;p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259" name="Google Shape;259;p7"/>
          <p:cNvSpPr txBox="1"/>
          <p:nvPr/>
        </p:nvSpPr>
        <p:spPr>
          <a:xfrm>
            <a:off x="7133822" y="0"/>
            <a:ext cx="4826905" cy="25853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1.READ ( A, a1)                     BD   A = 1000     </a:t>
            </a:r>
            <a:r>
              <a:rPr b="0" i="0" lang="es-AR" sz="1800" u="none" cap="none" strike="noStrike">
                <a:solidFill>
                  <a:srgbClr val="D64E09"/>
                </a:solidFill>
                <a:latin typeface="Corbel"/>
                <a:ea typeface="Corbel"/>
                <a:cs typeface="Corbel"/>
                <a:sym typeface="Corbel"/>
              </a:rPr>
              <a:t>900 ( 3)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800" u="none" cap="none" strike="noStrike">
                <a:solidFill>
                  <a:srgbClr val="2B8CAF"/>
                </a:solidFill>
                <a:latin typeface="Corbel"/>
                <a:ea typeface="Corbel"/>
                <a:cs typeface="Corbel"/>
                <a:sym typeface="Corbel"/>
              </a:rPr>
              <a:t>2.</a:t>
            </a:r>
            <a:r>
              <a:rPr b="0" i="0" lang="es-AR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a1 := a1 – 100;                             B = 2000   </a:t>
            </a:r>
            <a:r>
              <a:rPr b="0" i="0" lang="es-AR" sz="1800" u="none" cap="none" strike="noStrike">
                <a:solidFill>
                  <a:srgbClr val="00B050"/>
                </a:solidFill>
                <a:latin typeface="Corbel"/>
                <a:ea typeface="Corbel"/>
                <a:cs typeface="Corbel"/>
                <a:sym typeface="Corbel"/>
              </a:rPr>
              <a:t>2100( 6)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800" u="none" cap="none" strike="noStrike">
                <a:solidFill>
                  <a:srgbClr val="D64E09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r>
              <a:rPr b="0" i="0" lang="es-AR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.WRITE( A, a1)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800" u="none" cap="none" strike="noStrike">
                <a:solidFill>
                  <a:srgbClr val="768848"/>
                </a:solidFill>
                <a:latin typeface="Corbel"/>
                <a:ea typeface="Corbel"/>
                <a:cs typeface="Corbel"/>
                <a:sym typeface="Corbel"/>
              </a:rPr>
              <a:t>4.</a:t>
            </a:r>
            <a:r>
              <a:rPr b="0" i="0" lang="es-AR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READ (B, b1)                      Memoria local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8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5.</a:t>
            </a:r>
            <a:r>
              <a:rPr b="0" i="0" lang="es-AR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b1 := b1 + 100;                       A = 1000 (1)  </a:t>
            </a:r>
            <a:r>
              <a:rPr b="0" i="0" lang="es-AR" sz="1800" u="none" cap="none" strike="noStrike">
                <a:solidFill>
                  <a:srgbClr val="2B8CAF"/>
                </a:solidFill>
                <a:latin typeface="Corbel"/>
                <a:ea typeface="Corbel"/>
                <a:cs typeface="Corbel"/>
                <a:sym typeface="Corbel"/>
              </a:rPr>
              <a:t>900 (2)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00B050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r>
              <a:rPr lang="es-AR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.WRITE(B, b1)                         B = </a:t>
            </a:r>
            <a:r>
              <a:rPr lang="es-AR" sz="1800">
                <a:solidFill>
                  <a:srgbClr val="768848"/>
                </a:solidFill>
                <a:latin typeface="Corbel"/>
                <a:ea typeface="Corbel"/>
                <a:cs typeface="Corbel"/>
                <a:sym typeface="Corbel"/>
              </a:rPr>
              <a:t>2000 (4) </a:t>
            </a:r>
            <a:r>
              <a:rPr lang="es-AR" sz="1800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 2100 (5)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FALLO LUEGO DE 3 Y ANTES DE 6 ? QUE PASA?</a:t>
            </a:r>
            <a:endParaRPr/>
          </a:p>
        </p:txBody>
      </p:sp>
      <p:pic>
        <p:nvPicPr>
          <p:cNvPr descr="c8_7" id="260" name="Google Shape;2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510" y="26162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"/>
          <p:cNvSpPr txBox="1"/>
          <p:nvPr>
            <p:ph type="title"/>
          </p:nvPr>
        </p:nvSpPr>
        <p:spPr>
          <a:xfrm>
            <a:off x="1337435" y="-617984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s-AR"/>
              <a:t>Registro Histórico</a:t>
            </a:r>
            <a:endParaRPr/>
          </a:p>
        </p:txBody>
      </p:sp>
      <p:grpSp>
        <p:nvGrpSpPr>
          <p:cNvPr id="266" name="Google Shape;266;p8"/>
          <p:cNvGrpSpPr/>
          <p:nvPr/>
        </p:nvGrpSpPr>
        <p:grpSpPr>
          <a:xfrm>
            <a:off x="2099256" y="1713930"/>
            <a:ext cx="9405356" cy="4068090"/>
            <a:chOff x="0" y="129829"/>
            <a:chExt cx="9405356" cy="4068090"/>
          </a:xfrm>
        </p:grpSpPr>
        <p:sp>
          <p:nvSpPr>
            <p:cNvPr id="267" name="Google Shape;267;p8"/>
            <p:cNvSpPr/>
            <p:nvPr/>
          </p:nvSpPr>
          <p:spPr>
            <a:xfrm>
              <a:off x="0" y="129829"/>
              <a:ext cx="9405356" cy="623610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8"/>
            <p:cNvSpPr txBox="1"/>
            <p:nvPr/>
          </p:nvSpPr>
          <p:spPr>
            <a:xfrm>
              <a:off x="30442" y="160271"/>
              <a:ext cx="9344400" cy="56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orbel"/>
                <a:buNone/>
              </a:pPr>
              <a:r>
                <a:rPr lang="es-AR" sz="26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Bitácora</a:t>
              </a:r>
              <a:endParaRPr sz="2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0" y="753439"/>
              <a:ext cx="9405356" cy="3444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8"/>
            <p:cNvSpPr txBox="1"/>
            <p:nvPr/>
          </p:nvSpPr>
          <p:spPr>
            <a:xfrm>
              <a:off x="0" y="753439"/>
              <a:ext cx="9405356" cy="3444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00" lIns="298600" spcFirstLastPara="1" rIns="184900" wrap="square" tIns="330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rbel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secuencia de actividades realizadas sobre la BD.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rbel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Contenido de la bitácora</a:t>
              </a:r>
              <a:endParaRPr/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rbel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&lt;T iniciada&gt;</a:t>
              </a:r>
              <a:endParaRPr/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rbel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&lt;T, E, Va, Vn&gt;</a:t>
              </a:r>
              <a:endPara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3" marL="6858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rbel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Identificador de la transacción</a:t>
              </a:r>
              <a:endPara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3" marL="6858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rbel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Identificador del elemento de datos</a:t>
              </a:r>
              <a:endPara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3" marL="6858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rbel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Valor anterior</a:t>
              </a:r>
              <a:endPara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3" marL="6858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rbel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Valor nuevo</a:t>
              </a:r>
              <a:endPara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rbel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&lt;T Commit&gt;</a:t>
              </a:r>
              <a:endPara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rbel"/>
                <a:buChar char="•"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&lt;T Abort&gt;</a:t>
              </a:r>
              <a:endPara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4572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71" name="Google Shape;271;p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8_8" id="273" name="Google Shape;2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983" y="3459282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s-AR"/>
              <a:t>Registro Historico</a:t>
            </a:r>
            <a:endParaRPr/>
          </a:p>
        </p:txBody>
      </p:sp>
      <p:grpSp>
        <p:nvGrpSpPr>
          <p:cNvPr id="279" name="Google Shape;279;p9"/>
          <p:cNvGrpSpPr/>
          <p:nvPr/>
        </p:nvGrpSpPr>
        <p:grpSpPr>
          <a:xfrm>
            <a:off x="2060620" y="1958237"/>
            <a:ext cx="9443993" cy="3900375"/>
            <a:chOff x="0" y="53237"/>
            <a:chExt cx="9443993" cy="3900375"/>
          </a:xfrm>
        </p:grpSpPr>
        <p:sp>
          <p:nvSpPr>
            <p:cNvPr id="280" name="Google Shape;280;p9"/>
            <p:cNvSpPr/>
            <p:nvPr/>
          </p:nvSpPr>
          <p:spPr>
            <a:xfrm>
              <a:off x="0" y="53237"/>
              <a:ext cx="9443993" cy="1979640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9"/>
            <p:cNvSpPr txBox="1"/>
            <p:nvPr/>
          </p:nvSpPr>
          <p:spPr>
            <a:xfrm>
              <a:off x="96638" y="149875"/>
              <a:ext cx="9250717" cy="1786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3350" lIns="133350" spcFirstLastPara="1" rIns="133350" wrap="square" tIns="1333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CD84"/>
                </a:buClr>
                <a:buSzPts val="3500"/>
                <a:buFont typeface="Corbel"/>
                <a:buNone/>
              </a:pPr>
              <a:r>
                <a:rPr b="1" lang="es-AR" sz="3500">
                  <a:solidFill>
                    <a:srgbClr val="F2CD84"/>
                  </a:solidFill>
                  <a:latin typeface="Corbel"/>
                  <a:ea typeface="Corbel"/>
                  <a:cs typeface="Corbel"/>
                  <a:sym typeface="Corbel"/>
                </a:rPr>
                <a:t>Las operaciones sobre la BD deben almacenarse luego de guardar en disco el contenido de la Bitácora</a:t>
              </a:r>
              <a:endParaRPr b="1" sz="3500">
                <a:solidFill>
                  <a:srgbClr val="F2CD84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2" name="Google Shape;282;p9"/>
            <p:cNvSpPr/>
            <p:nvPr/>
          </p:nvSpPr>
          <p:spPr>
            <a:xfrm>
              <a:off x="0" y="2136557"/>
              <a:ext cx="9443993" cy="848295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9"/>
            <p:cNvSpPr txBox="1"/>
            <p:nvPr/>
          </p:nvSpPr>
          <p:spPr>
            <a:xfrm>
              <a:off x="41410" y="2177967"/>
              <a:ext cx="9361173" cy="765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3350" lIns="133350" spcFirstLastPara="1" rIns="133350" wrap="square" tIns="1333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500"/>
                <a:buFont typeface="Corbel"/>
                <a:buNone/>
              </a:pPr>
              <a:r>
                <a:rPr lang="es-AR" sz="35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Dos técnicas de bitácora</a:t>
              </a:r>
              <a:endParaRPr/>
            </a:p>
          </p:txBody>
        </p:sp>
        <p:sp>
          <p:nvSpPr>
            <p:cNvPr id="284" name="Google Shape;284;p9"/>
            <p:cNvSpPr/>
            <p:nvPr/>
          </p:nvSpPr>
          <p:spPr>
            <a:xfrm>
              <a:off x="0" y="2984852"/>
              <a:ext cx="9443993" cy="968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9"/>
            <p:cNvSpPr txBox="1"/>
            <p:nvPr/>
          </p:nvSpPr>
          <p:spPr>
            <a:xfrm>
              <a:off x="0" y="2984852"/>
              <a:ext cx="9443993" cy="968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299825" spcFirstLastPara="1" rIns="248900" wrap="square" tIns="444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orbel"/>
                <a:buChar char="•"/>
              </a:pPr>
              <a:r>
                <a:rPr b="0" i="0" lang="es-AR" sz="27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Modificación diferida de la BD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54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orbel"/>
                <a:buChar char="•"/>
              </a:pPr>
              <a:r>
                <a:rPr b="0" i="0" lang="es-AR" sz="27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Modificación inmediata de la BD</a:t>
              </a:r>
              <a:endParaRPr b="0" i="0" sz="27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86" name="Google Shape;286;p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8_9" id="288" name="Google Shape;28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987" y="26162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s-AR"/>
              <a:t>Registro Histórico</a:t>
            </a:r>
            <a:endParaRPr/>
          </a:p>
        </p:txBody>
      </p:sp>
      <p:grpSp>
        <p:nvGrpSpPr>
          <p:cNvPr id="294" name="Google Shape;294;p10"/>
          <p:cNvGrpSpPr/>
          <p:nvPr/>
        </p:nvGrpSpPr>
        <p:grpSpPr>
          <a:xfrm>
            <a:off x="1484313" y="2779312"/>
            <a:ext cx="10018712" cy="2899575"/>
            <a:chOff x="0" y="112312"/>
            <a:chExt cx="10018712" cy="2899575"/>
          </a:xfrm>
        </p:grpSpPr>
        <p:sp>
          <p:nvSpPr>
            <p:cNvPr id="295" name="Google Shape;295;p10"/>
            <p:cNvSpPr/>
            <p:nvPr/>
          </p:nvSpPr>
          <p:spPr>
            <a:xfrm>
              <a:off x="0" y="112312"/>
              <a:ext cx="10018712" cy="1175264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0"/>
            <p:cNvSpPr txBox="1"/>
            <p:nvPr/>
          </p:nvSpPr>
          <p:spPr>
            <a:xfrm>
              <a:off x="57372" y="169684"/>
              <a:ext cx="9903968" cy="1060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675" lIns="186675" spcFirstLastPara="1" rIns="186675" wrap="square" tIns="18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900"/>
                <a:buFont typeface="Corbel"/>
                <a:buNone/>
              </a:pPr>
              <a:r>
                <a:rPr lang="es-AR" sz="49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Modificación diferida</a:t>
              </a:r>
              <a:endParaRPr sz="4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7" name="Google Shape;297;p10"/>
            <p:cNvSpPr/>
            <p:nvPr/>
          </p:nvSpPr>
          <p:spPr>
            <a:xfrm>
              <a:off x="0" y="1287577"/>
              <a:ext cx="10018712" cy="1724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0"/>
            <p:cNvSpPr txBox="1"/>
            <p:nvPr/>
          </p:nvSpPr>
          <p:spPr>
            <a:xfrm>
              <a:off x="0" y="1287577"/>
              <a:ext cx="10018712" cy="1724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2225" lIns="318075" spcFirstLastPara="1" rIns="348475" wrap="square" tIns="62225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800"/>
                <a:buFont typeface="Corbel"/>
                <a:buChar char="•"/>
              </a:pPr>
              <a:r>
                <a:rPr b="0" i="0" lang="es-AR" sz="3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Las operaciones write se aplazan hasta que la transacción esté parcialmente cometida, en ese momento se actualiza la bitácora y la BD</a:t>
              </a:r>
              <a:endParaRPr/>
            </a:p>
          </p:txBody>
        </p:sp>
      </p:grpSp>
      <p:sp>
        <p:nvSpPr>
          <p:cNvPr id="299" name="Google Shape;299;p1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8_10" id="301" name="Google Shape;3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9479" y="18542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/>
          <p:nvPr>
            <p:ph type="title"/>
          </p:nvPr>
        </p:nvSpPr>
        <p:spPr>
          <a:xfrm>
            <a:off x="1484311" y="-36356"/>
            <a:ext cx="7644191" cy="1105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s-AR"/>
              <a:t>Registro Historico</a:t>
            </a:r>
            <a:endParaRPr/>
          </a:p>
        </p:txBody>
      </p:sp>
      <p:sp>
        <p:nvSpPr>
          <p:cNvPr id="307" name="Google Shape;307;p11"/>
          <p:cNvSpPr txBox="1"/>
          <p:nvPr>
            <p:ph idx="1" type="body"/>
          </p:nvPr>
        </p:nvSpPr>
        <p:spPr>
          <a:xfrm>
            <a:off x="1331912" y="1582762"/>
            <a:ext cx="2731229" cy="1981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35"/>
              <a:buFont typeface="Corbel"/>
              <a:buAutoNum type="arabicPeriod"/>
            </a:pPr>
            <a:r>
              <a:rPr lang="es-AR" sz="1679"/>
              <a:t>READ ( A, a1)</a:t>
            </a:r>
            <a:endParaRPr/>
          </a:p>
          <a:p>
            <a:pPr indent="-457200" lvl="0" marL="457200" rtl="0" algn="l">
              <a:lnSpc>
                <a:spcPct val="80000"/>
              </a:lnSpc>
              <a:spcBef>
                <a:spcPts val="936"/>
              </a:spcBef>
              <a:spcAft>
                <a:spcPts val="0"/>
              </a:spcAft>
              <a:buSzPts val="2435"/>
              <a:buFont typeface="Corbel"/>
              <a:buAutoNum type="arabicPeriod"/>
            </a:pPr>
            <a:r>
              <a:rPr lang="es-AR" sz="1679"/>
              <a:t>a1 := a1 – 100;</a:t>
            </a:r>
            <a:endParaRPr/>
          </a:p>
          <a:p>
            <a:pPr indent="-457200" lvl="0" marL="457200" rtl="0" algn="l">
              <a:lnSpc>
                <a:spcPct val="80000"/>
              </a:lnSpc>
              <a:spcBef>
                <a:spcPts val="936"/>
              </a:spcBef>
              <a:spcAft>
                <a:spcPts val="0"/>
              </a:spcAft>
              <a:buSzPts val="2435"/>
              <a:buFont typeface="Corbel"/>
              <a:buAutoNum type="arabicPeriod"/>
            </a:pPr>
            <a:r>
              <a:rPr lang="es-AR" sz="1679"/>
              <a:t>READ (B, b1)</a:t>
            </a:r>
            <a:endParaRPr/>
          </a:p>
          <a:p>
            <a:pPr indent="-457200" lvl="0" marL="457200" rtl="0" algn="l">
              <a:lnSpc>
                <a:spcPct val="80000"/>
              </a:lnSpc>
              <a:spcBef>
                <a:spcPts val="936"/>
              </a:spcBef>
              <a:spcAft>
                <a:spcPts val="0"/>
              </a:spcAft>
              <a:buSzPts val="2435"/>
              <a:buFont typeface="Corbel"/>
              <a:buAutoNum type="arabicPeriod"/>
            </a:pPr>
            <a:r>
              <a:rPr lang="es-AR" sz="1679"/>
              <a:t>b1 := b1 + 100;</a:t>
            </a:r>
            <a:endParaRPr/>
          </a:p>
          <a:p>
            <a:pPr indent="-457200" lvl="0" marL="457200" rtl="0" algn="l">
              <a:lnSpc>
                <a:spcPct val="80000"/>
              </a:lnSpc>
              <a:spcBef>
                <a:spcPts val="936"/>
              </a:spcBef>
              <a:spcAft>
                <a:spcPts val="0"/>
              </a:spcAft>
              <a:buSzPts val="2435"/>
              <a:buFont typeface="Corbel"/>
              <a:buAutoNum type="arabicPeriod"/>
            </a:pPr>
            <a:r>
              <a:rPr lang="es-AR" sz="1679"/>
              <a:t>WRITE( A, a1)</a:t>
            </a:r>
            <a:endParaRPr/>
          </a:p>
          <a:p>
            <a:pPr indent="-457200" lvl="0" marL="457200" rtl="0" algn="l">
              <a:lnSpc>
                <a:spcPct val="80000"/>
              </a:lnSpc>
              <a:spcBef>
                <a:spcPts val="936"/>
              </a:spcBef>
              <a:spcAft>
                <a:spcPts val="0"/>
              </a:spcAft>
              <a:buSzPts val="2435"/>
              <a:buFont typeface="Corbel"/>
              <a:buAutoNum type="arabicPeriod"/>
            </a:pPr>
            <a:r>
              <a:rPr lang="es-AR" sz="1679"/>
              <a:t>WRITE(B, b1)</a:t>
            </a:r>
            <a:endParaRPr/>
          </a:p>
        </p:txBody>
      </p:sp>
      <p:sp>
        <p:nvSpPr>
          <p:cNvPr id="308" name="Google Shape;308;p1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310" name="Google Shape;310;p11"/>
          <p:cNvSpPr txBox="1"/>
          <p:nvPr/>
        </p:nvSpPr>
        <p:spPr>
          <a:xfrm>
            <a:off x="10161948" y="690964"/>
            <a:ext cx="1579815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Base de Datos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A = 1000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          900 (8)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B = 2000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        2100 ( 9 )</a:t>
            </a:r>
            <a:endParaRPr/>
          </a:p>
        </p:txBody>
      </p:sp>
      <p:sp>
        <p:nvSpPr>
          <p:cNvPr id="311" name="Google Shape;311;p11"/>
          <p:cNvSpPr txBox="1"/>
          <p:nvPr/>
        </p:nvSpPr>
        <p:spPr>
          <a:xfrm>
            <a:off x="4246904" y="1069383"/>
            <a:ext cx="5687878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Bitacora                                                               Memoria RAM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AutoNum type="arabicPeriod"/>
            </a:pPr>
            <a:r>
              <a:rPr lang="es-AR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 T start&gt;      2 no produce efecto       1. A  = 1000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5.    &lt; T, A, 900  &gt;   3, 4 sin efecto                2. A = 900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AutoNum type="arabicPeriod" startAt="6"/>
            </a:pPr>
            <a:r>
              <a:rPr lang="es-AR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 T, B, 2100&gt;                                               3. B = 2000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7. &lt; T commit&gt; 			4. B = 2100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Plan1    1, 2, 3, 4, 5, 6, 7 , 8 , 9  fallo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Recupera del Fallo y no habria que hacer nada???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B8CAF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2B8CAF"/>
                </a:solidFill>
                <a:latin typeface="Corbel"/>
                <a:ea typeface="Corbel"/>
                <a:cs typeface="Corbel"/>
                <a:sym typeface="Corbel"/>
              </a:rPr>
              <a:t>Plan2   1,2,3,4,5,6,7, 8  fallo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2B8CAF"/>
                </a:solidFill>
                <a:latin typeface="Corbel"/>
                <a:ea typeface="Corbel"/>
                <a:cs typeface="Corbel"/>
                <a:sym typeface="Corbel"/>
              </a:rPr>
              <a:t>Recupera del Fallo y que hacemos???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B8CAF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C28714"/>
                </a:solidFill>
                <a:latin typeface="Corbel"/>
                <a:ea typeface="Corbel"/>
                <a:cs typeface="Corbel"/>
                <a:sym typeface="Corbel"/>
              </a:rPr>
              <a:t>Plan3  1,2,3, 4, 5, 6, 7  fallo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C28714"/>
                </a:solidFill>
                <a:latin typeface="Corbel"/>
                <a:ea typeface="Corbel"/>
                <a:cs typeface="Corbel"/>
                <a:sym typeface="Corbel"/>
              </a:rPr>
              <a:t>Recupera del fallo y no habria que hacer nada???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28714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C28714"/>
                </a:solidFill>
                <a:latin typeface="Corbel"/>
                <a:ea typeface="Corbel"/>
                <a:cs typeface="Corbel"/>
                <a:sym typeface="Corbel"/>
              </a:rPr>
              <a:t>Planotro  fallo antes de 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C28714"/>
                </a:solidFill>
                <a:latin typeface="Corbel"/>
                <a:ea typeface="Corbel"/>
                <a:cs typeface="Corbel"/>
                <a:sym typeface="Corbel"/>
              </a:rPr>
              <a:t>Base de datos bien.</a:t>
            </a:r>
            <a:endParaRPr/>
          </a:p>
        </p:txBody>
      </p:sp>
      <p:sp>
        <p:nvSpPr>
          <p:cNvPr id="312" name="Google Shape;312;p11"/>
          <p:cNvSpPr txBox="1"/>
          <p:nvPr/>
        </p:nvSpPr>
        <p:spPr>
          <a:xfrm>
            <a:off x="10070180" y="2551837"/>
            <a:ext cx="1579815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2B8CAF"/>
                </a:solidFill>
                <a:latin typeface="Corbel"/>
                <a:ea typeface="Corbel"/>
                <a:cs typeface="Corbel"/>
                <a:sym typeface="Corbel"/>
              </a:rPr>
              <a:t>Base de Datos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2B8CAF"/>
                </a:solidFill>
                <a:latin typeface="Corbel"/>
                <a:ea typeface="Corbel"/>
                <a:cs typeface="Corbel"/>
                <a:sym typeface="Corbel"/>
              </a:rPr>
              <a:t>A = 1000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2B8CAF"/>
                </a:solidFill>
                <a:latin typeface="Corbel"/>
                <a:ea typeface="Corbel"/>
                <a:cs typeface="Corbel"/>
                <a:sym typeface="Corbel"/>
              </a:rPr>
              <a:t>          900 (8)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2B8CAF"/>
                </a:solidFill>
                <a:latin typeface="Corbel"/>
                <a:ea typeface="Corbel"/>
                <a:cs typeface="Corbel"/>
                <a:sym typeface="Corbel"/>
              </a:rPr>
              <a:t>B = 2000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       </a:t>
            </a:r>
            <a:endParaRPr/>
          </a:p>
        </p:txBody>
      </p:sp>
      <p:sp>
        <p:nvSpPr>
          <p:cNvPr id="313" name="Google Shape;313;p11"/>
          <p:cNvSpPr txBox="1"/>
          <p:nvPr/>
        </p:nvSpPr>
        <p:spPr>
          <a:xfrm>
            <a:off x="10070179" y="4128949"/>
            <a:ext cx="1579815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C28714"/>
                </a:solidFill>
                <a:latin typeface="Corbel"/>
                <a:ea typeface="Corbel"/>
                <a:cs typeface="Corbel"/>
                <a:sym typeface="Corbel"/>
              </a:rPr>
              <a:t>Base de Datos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28714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C28714"/>
                </a:solidFill>
                <a:latin typeface="Corbel"/>
                <a:ea typeface="Corbel"/>
                <a:cs typeface="Corbel"/>
                <a:sym typeface="Corbel"/>
              </a:rPr>
              <a:t>A = 1000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C28714"/>
                </a:solidFill>
                <a:latin typeface="Corbel"/>
                <a:ea typeface="Corbel"/>
                <a:cs typeface="Corbel"/>
                <a:sym typeface="Corbel"/>
              </a:rPr>
              <a:t>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C28714"/>
                </a:solidFill>
                <a:latin typeface="Corbel"/>
                <a:ea typeface="Corbel"/>
                <a:cs typeface="Corbel"/>
                <a:sym typeface="Corbel"/>
              </a:rPr>
              <a:t>B = 2000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       </a:t>
            </a:r>
            <a:endParaRPr/>
          </a:p>
        </p:txBody>
      </p:sp>
      <p:pic>
        <p:nvPicPr>
          <p:cNvPr descr="c8_11_1" id="314" name="Google Shape;31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946" y="1914237"/>
            <a:ext cx="812800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8_11_2" id="315" name="Google Shape;3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231" y="3422073"/>
            <a:ext cx="812800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8_11_3" id="316" name="Google Shape;31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231" y="4599712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"/>
          <p:cNvSpPr txBox="1"/>
          <p:nvPr>
            <p:ph type="title"/>
          </p:nvPr>
        </p:nvSpPr>
        <p:spPr>
          <a:xfrm>
            <a:off x="1484310" y="153365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s-AR"/>
              <a:t>Registro Histórico</a:t>
            </a:r>
            <a:endParaRPr/>
          </a:p>
        </p:txBody>
      </p:sp>
      <p:grpSp>
        <p:nvGrpSpPr>
          <p:cNvPr id="322" name="Google Shape;322;p12"/>
          <p:cNvGrpSpPr/>
          <p:nvPr/>
        </p:nvGrpSpPr>
        <p:grpSpPr>
          <a:xfrm>
            <a:off x="2215166" y="1749920"/>
            <a:ext cx="9289447" cy="4099141"/>
            <a:chOff x="0" y="62788"/>
            <a:chExt cx="9289447" cy="4099141"/>
          </a:xfrm>
        </p:grpSpPr>
        <p:sp>
          <p:nvSpPr>
            <p:cNvPr id="323" name="Google Shape;323;p12"/>
            <p:cNvSpPr/>
            <p:nvPr/>
          </p:nvSpPr>
          <p:spPr>
            <a:xfrm>
              <a:off x="0" y="62788"/>
              <a:ext cx="9289447" cy="575639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2"/>
            <p:cNvSpPr txBox="1"/>
            <p:nvPr/>
          </p:nvSpPr>
          <p:spPr>
            <a:xfrm>
              <a:off x="28100" y="90888"/>
              <a:ext cx="9233247" cy="519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orbel"/>
                <a:buNone/>
              </a:pPr>
              <a:r>
                <a:rPr lang="es-AR" sz="24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Dada la siguiente transacción</a:t>
              </a:r>
              <a:endParaRPr sz="2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5" name="Google Shape;325;p12"/>
            <p:cNvSpPr/>
            <p:nvPr/>
          </p:nvSpPr>
          <p:spPr>
            <a:xfrm>
              <a:off x="0" y="638428"/>
              <a:ext cx="9289447" cy="1316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2"/>
            <p:cNvSpPr txBox="1"/>
            <p:nvPr/>
          </p:nvSpPr>
          <p:spPr>
            <a:xfrm>
              <a:off x="0" y="638428"/>
              <a:ext cx="9289447" cy="1316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75" lIns="294925" spcFirstLastPara="1" rIns="170675" wrap="square" tIns="304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orbel"/>
                <a:buChar char="•"/>
              </a:pPr>
              <a:r>
                <a:rPr b="0" i="0" lang="es-AR" sz="19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&lt; T0 Start &gt;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8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orbel"/>
                <a:buChar char="•"/>
              </a:pPr>
              <a:r>
                <a:rPr b="0" i="0" lang="es-AR" sz="19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&lt; T0, A, 900 &gt;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8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orbel"/>
                <a:buChar char="•"/>
              </a:pPr>
              <a:r>
                <a:rPr b="0" i="0" lang="es-AR" sz="19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&lt; T0, B, 2100 &gt;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8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orbel"/>
                <a:buChar char="•"/>
              </a:pPr>
              <a:r>
                <a:rPr b="0" i="0" lang="es-AR" sz="19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&lt; T0 Commit &gt;</a:t>
              </a:r>
              <a:endParaRPr/>
            </a:p>
          </p:txBody>
        </p:sp>
        <p:sp>
          <p:nvSpPr>
            <p:cNvPr id="327" name="Google Shape;327;p12"/>
            <p:cNvSpPr/>
            <p:nvPr/>
          </p:nvSpPr>
          <p:spPr>
            <a:xfrm>
              <a:off x="0" y="1954949"/>
              <a:ext cx="9289447" cy="575639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2"/>
            <p:cNvSpPr txBox="1"/>
            <p:nvPr/>
          </p:nvSpPr>
          <p:spPr>
            <a:xfrm>
              <a:off x="28100" y="1983049"/>
              <a:ext cx="9233247" cy="519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orbel"/>
                <a:buNone/>
              </a:pPr>
              <a:r>
                <a:rPr lang="es-AR" sz="24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Recién con T0 parcialmente cometida, entonces se actualiza la BD.</a:t>
              </a:r>
              <a:endParaRPr/>
            </a:p>
          </p:txBody>
        </p:sp>
        <p:sp>
          <p:nvSpPr>
            <p:cNvPr id="329" name="Google Shape;329;p12"/>
            <p:cNvSpPr/>
            <p:nvPr/>
          </p:nvSpPr>
          <p:spPr>
            <a:xfrm>
              <a:off x="0" y="2530588"/>
              <a:ext cx="9289447" cy="397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2"/>
            <p:cNvSpPr txBox="1"/>
            <p:nvPr/>
          </p:nvSpPr>
          <p:spPr>
            <a:xfrm>
              <a:off x="0" y="2530588"/>
              <a:ext cx="9289447" cy="397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75" lIns="294925" spcFirstLastPara="1" rIns="170675" wrap="square" tIns="304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orbel"/>
                <a:buChar char="•"/>
              </a:pPr>
              <a:r>
                <a:rPr b="0" i="0" lang="es-AR" sz="19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No se necesita valor viejo, se modifica la BD al final de la transacción o no se modifica.</a:t>
              </a:r>
              <a:endParaRPr/>
            </a:p>
          </p:txBody>
        </p:sp>
        <p:sp>
          <p:nvSpPr>
            <p:cNvPr id="331" name="Google Shape;331;p12"/>
            <p:cNvSpPr/>
            <p:nvPr/>
          </p:nvSpPr>
          <p:spPr>
            <a:xfrm>
              <a:off x="0" y="2928029"/>
              <a:ext cx="9289447" cy="575639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2"/>
            <p:cNvSpPr txBox="1"/>
            <p:nvPr/>
          </p:nvSpPr>
          <p:spPr>
            <a:xfrm>
              <a:off x="28100" y="2956129"/>
              <a:ext cx="9233247" cy="519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orbel"/>
                <a:buNone/>
              </a:pPr>
              <a:r>
                <a:rPr lang="es-AR" sz="24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Ante un fallo, y luego de recuperarse:</a:t>
              </a:r>
              <a:endParaRPr sz="2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3" name="Google Shape;333;p12"/>
            <p:cNvSpPr/>
            <p:nvPr/>
          </p:nvSpPr>
          <p:spPr>
            <a:xfrm>
              <a:off x="0" y="3503669"/>
              <a:ext cx="9289447" cy="658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2"/>
            <p:cNvSpPr txBox="1"/>
            <p:nvPr/>
          </p:nvSpPr>
          <p:spPr>
            <a:xfrm>
              <a:off x="0" y="3503669"/>
              <a:ext cx="9289447" cy="658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75" lIns="294925" spcFirstLastPara="1" rIns="170675" wrap="square" tIns="304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orbel"/>
                <a:buChar char="•"/>
              </a:pPr>
              <a:r>
                <a:rPr b="0" i="0" lang="es-AR" sz="19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REDO (Ti), para todo Ti que tenga un Start y un Commit en la Bitácora.</a:t>
              </a:r>
              <a:endParaRPr b="0" i="0" sz="1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8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orbel"/>
                <a:buChar char="•"/>
              </a:pPr>
              <a:r>
                <a:rPr b="0" i="0" lang="es-AR" sz="19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Si no tiene Commit entonces se ignora, dado que no llegó a hacer algo en la BD.</a:t>
              </a:r>
              <a:endParaRPr b="0" i="0" sz="1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335" name="Google Shape;335;p1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8_12" id="337" name="Google Shape;33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218" y="2986691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s-AR"/>
              <a:t>Registro Histórico</a:t>
            </a:r>
            <a:endParaRPr/>
          </a:p>
        </p:txBody>
      </p:sp>
      <p:grpSp>
        <p:nvGrpSpPr>
          <p:cNvPr id="343" name="Google Shape;343;p13"/>
          <p:cNvGrpSpPr/>
          <p:nvPr/>
        </p:nvGrpSpPr>
        <p:grpSpPr>
          <a:xfrm>
            <a:off x="1484313" y="2720474"/>
            <a:ext cx="10018712" cy="3017250"/>
            <a:chOff x="0" y="53474"/>
            <a:chExt cx="10018712" cy="3017250"/>
          </a:xfrm>
        </p:grpSpPr>
        <p:sp>
          <p:nvSpPr>
            <p:cNvPr id="344" name="Google Shape;344;p13"/>
            <p:cNvSpPr/>
            <p:nvPr/>
          </p:nvSpPr>
          <p:spPr>
            <a:xfrm>
              <a:off x="0" y="53474"/>
              <a:ext cx="10018712" cy="719549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3"/>
            <p:cNvSpPr txBox="1"/>
            <p:nvPr/>
          </p:nvSpPr>
          <p:spPr>
            <a:xfrm>
              <a:off x="35125" y="88599"/>
              <a:ext cx="9948462" cy="649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lang="es-AR" sz="30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Modificación inmediata:</a:t>
              </a:r>
              <a:endParaRPr sz="3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6" name="Google Shape;346;p13"/>
            <p:cNvSpPr/>
            <p:nvPr/>
          </p:nvSpPr>
          <p:spPr>
            <a:xfrm>
              <a:off x="0" y="773024"/>
              <a:ext cx="10018712" cy="22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3"/>
            <p:cNvSpPr txBox="1"/>
            <p:nvPr/>
          </p:nvSpPr>
          <p:spPr>
            <a:xfrm>
              <a:off x="0" y="773024"/>
              <a:ext cx="10018712" cy="22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18075" spcFirstLastPara="1" rIns="213350" wrap="square" tIns="381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orbel"/>
                <a:buChar char="•"/>
              </a:pPr>
              <a:r>
                <a:rPr b="0" i="0" lang="es-AR" sz="23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La actualización de la BD se realiza mientras la transacción está activa y se va ejecutando.</a:t>
              </a:r>
              <a:endParaRPr b="0" i="0" sz="23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6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orbel"/>
                <a:buChar char="•"/>
              </a:pPr>
              <a:r>
                <a:rPr b="0" i="0" lang="es-AR" sz="23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necesita el valor viejo, pues los cambios se fueron efectuando.</a:t>
              </a:r>
              <a:endParaRPr b="0" i="0" sz="23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6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orbel"/>
                <a:buChar char="•"/>
              </a:pPr>
              <a:r>
                <a:rPr b="0" i="0" lang="es-AR" sz="23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Ante un fallo, y luego de recuperarse:</a:t>
              </a:r>
              <a:endParaRPr b="0" i="0" sz="23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6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orbel"/>
                <a:buChar char="•"/>
              </a:pPr>
              <a:r>
                <a:rPr b="0" i="0" lang="es-AR" sz="23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REDO( Ti ), para todo Ti que tenga un Start y un Commit en la Bitácora.</a:t>
              </a:r>
              <a:endParaRPr b="0" i="0" sz="23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6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orbel"/>
                <a:buChar char="•"/>
              </a:pPr>
              <a:r>
                <a:rPr b="0" i="0" lang="es-AR" sz="23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UNDO( Ti ), para todo Ti que tenga un Start y no un Commit.</a:t>
              </a:r>
              <a:endParaRPr b="0" i="0" sz="23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348" name="Google Shape;348;p1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8_13" id="350" name="Google Shape;35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576" y="1321953"/>
            <a:ext cx="812800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8_13_2" id="351" name="Google Shape;35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140" y="42291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4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s-AR"/>
              <a:t>Registro Histórico </a:t>
            </a:r>
            <a:endParaRPr/>
          </a:p>
        </p:txBody>
      </p:sp>
      <p:grpSp>
        <p:nvGrpSpPr>
          <p:cNvPr id="357" name="Google Shape;357;p14"/>
          <p:cNvGrpSpPr/>
          <p:nvPr/>
        </p:nvGrpSpPr>
        <p:grpSpPr>
          <a:xfrm>
            <a:off x="1484313" y="2699549"/>
            <a:ext cx="10018712" cy="3059100"/>
            <a:chOff x="0" y="32549"/>
            <a:chExt cx="10018712" cy="3059100"/>
          </a:xfrm>
        </p:grpSpPr>
        <p:sp>
          <p:nvSpPr>
            <p:cNvPr id="358" name="Google Shape;358;p14"/>
            <p:cNvSpPr/>
            <p:nvPr/>
          </p:nvSpPr>
          <p:spPr>
            <a:xfrm>
              <a:off x="0" y="32549"/>
              <a:ext cx="10018712" cy="527670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4"/>
            <p:cNvSpPr txBox="1"/>
            <p:nvPr/>
          </p:nvSpPr>
          <p:spPr>
            <a:xfrm>
              <a:off x="25759" y="58308"/>
              <a:ext cx="9967194" cy="476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orbel"/>
                <a:buNone/>
              </a:pPr>
              <a:r>
                <a:rPr lang="es-AR" sz="22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Transacción:</a:t>
              </a:r>
              <a:endParaRPr sz="2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0" y="560219"/>
              <a:ext cx="10018712" cy="36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4"/>
            <p:cNvSpPr txBox="1"/>
            <p:nvPr/>
          </p:nvSpPr>
          <p:spPr>
            <a:xfrm>
              <a:off x="0" y="560219"/>
              <a:ext cx="10018712" cy="36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925" lIns="318075" spcFirstLastPara="1" rIns="156450" wrap="square" tIns="279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orbel"/>
                <a:buChar char="•"/>
              </a:pPr>
              <a:r>
                <a:rPr b="0" i="0" lang="es-AR" sz="17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Condición de idempotencia.</a:t>
              </a:r>
              <a:endParaRPr b="0" i="0" sz="17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2" name="Google Shape;362;p14"/>
            <p:cNvSpPr/>
            <p:nvPr/>
          </p:nvSpPr>
          <p:spPr>
            <a:xfrm>
              <a:off x="0" y="924539"/>
              <a:ext cx="10018712" cy="527670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4"/>
            <p:cNvSpPr txBox="1"/>
            <p:nvPr/>
          </p:nvSpPr>
          <p:spPr>
            <a:xfrm>
              <a:off x="25759" y="950298"/>
              <a:ext cx="9967194" cy="476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orbel"/>
                <a:buNone/>
              </a:pPr>
              <a:r>
                <a:rPr lang="es-AR" sz="22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Buffers de Bitácora</a:t>
              </a:r>
              <a:endParaRPr sz="2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4" name="Google Shape;364;p14"/>
            <p:cNvSpPr/>
            <p:nvPr/>
          </p:nvSpPr>
          <p:spPr>
            <a:xfrm>
              <a:off x="0" y="1452209"/>
              <a:ext cx="10018712" cy="1639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4"/>
            <p:cNvSpPr txBox="1"/>
            <p:nvPr/>
          </p:nvSpPr>
          <p:spPr>
            <a:xfrm>
              <a:off x="0" y="1452209"/>
              <a:ext cx="10018712" cy="1639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925" lIns="318075" spcFirstLastPara="1" rIns="156450" wrap="square" tIns="279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orbel"/>
                <a:buChar char="•"/>
              </a:pPr>
              <a:r>
                <a:rPr b="0" i="0" lang="es-AR" sz="17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Grabar en disco c/registro de bitácora insume gran costo de tiempo 🡪 se utilizan buffer, como proceder?</a:t>
              </a:r>
              <a:endParaRPr b="0" i="0" sz="17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171450" lvl="2" marL="342900" marR="0" rtl="0" algn="l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orbel"/>
                <a:buChar char="•"/>
              </a:pPr>
              <a:r>
                <a:rPr b="0" i="0" lang="es-AR" sz="17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Transacción está parcialmente cometida después de grabar en memoria no volátil el Commit en la Bitácora.</a:t>
              </a:r>
              <a:endParaRPr/>
            </a:p>
            <a:p>
              <a:pPr indent="-171450" lvl="2" marL="342900" marR="0" rtl="0" algn="l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orbel"/>
                <a:buChar char="•"/>
              </a:pPr>
              <a:r>
                <a:rPr b="0" i="0" lang="es-AR" sz="17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Un Commit en la bitácora en memoria no volátil, implica que todos los registros anteriores de esa transacción ya están en memoria no volátil.</a:t>
              </a:r>
              <a:endParaRPr b="0" i="0" sz="17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171450" lvl="2" marL="342900" marR="0" rtl="0" algn="l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orbel"/>
                <a:buChar char="•"/>
              </a:pPr>
              <a:r>
                <a:rPr b="1" i="0" lang="es-AR" sz="17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Siempre</a:t>
              </a:r>
              <a:r>
                <a:rPr b="0" i="0" lang="es-AR" sz="17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 graba primero la Bitácora y luego la BD. </a:t>
              </a:r>
              <a:endParaRPr b="0" i="0" sz="17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366" name="Google Shape;366;p1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4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8_14" id="368" name="Google Shape;36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575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s-AR"/>
              <a:t>Registro Histórico</a:t>
            </a:r>
            <a:endParaRPr/>
          </a:p>
        </p:txBody>
      </p:sp>
      <p:grpSp>
        <p:nvGrpSpPr>
          <p:cNvPr id="374" name="Google Shape;374;p15"/>
          <p:cNvGrpSpPr/>
          <p:nvPr/>
        </p:nvGrpSpPr>
        <p:grpSpPr>
          <a:xfrm>
            <a:off x="2150772" y="1991762"/>
            <a:ext cx="9353841" cy="3833324"/>
            <a:chOff x="0" y="86762"/>
            <a:chExt cx="9353841" cy="3833324"/>
          </a:xfrm>
        </p:grpSpPr>
        <p:sp>
          <p:nvSpPr>
            <p:cNvPr id="375" name="Google Shape;375;p15"/>
            <p:cNvSpPr/>
            <p:nvPr/>
          </p:nvSpPr>
          <p:spPr>
            <a:xfrm>
              <a:off x="0" y="86762"/>
              <a:ext cx="9353841" cy="647595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5"/>
            <p:cNvSpPr txBox="1"/>
            <p:nvPr/>
          </p:nvSpPr>
          <p:spPr>
            <a:xfrm>
              <a:off x="31613" y="118375"/>
              <a:ext cx="9290615" cy="5843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Corbel"/>
                <a:buNone/>
              </a:pPr>
              <a:r>
                <a:rPr lang="es-AR" sz="27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Puntos de verificación:</a:t>
              </a:r>
              <a:endParaRPr sz="27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0" y="734357"/>
              <a:ext cx="9353841" cy="3185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5"/>
            <p:cNvSpPr txBox="1"/>
            <p:nvPr/>
          </p:nvSpPr>
          <p:spPr>
            <a:xfrm>
              <a:off x="0" y="734357"/>
              <a:ext cx="9353841" cy="3185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296975" spcFirstLastPara="1" rIns="192000" wrap="square" tIns="3427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Ante un fallo, que hacer</a:t>
              </a:r>
              <a:endPara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REDO, UNDO: según el caso </a:t>
              </a:r>
              <a:endPara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Revisar la bitácora:</a:t>
              </a:r>
              <a:endPara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Desde el comienzo?: probablemente gran porcentaje esté correcto y terminado.</a:t>
              </a:r>
              <a:endPara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Lleva mucho tiempo.</a:t>
              </a:r>
              <a:endPara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Checkpoints (monousario)</a:t>
              </a:r>
              <a:endPara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agregan periódicamente indicando desde allí hacia atrás todo OK. </a:t>
              </a:r>
              <a:endPara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Periodicidad?</a:t>
              </a:r>
              <a:endParaRPr/>
            </a:p>
          </p:txBody>
        </p:sp>
      </p:grpSp>
      <p:sp>
        <p:nvSpPr>
          <p:cNvPr id="379" name="Google Shape;379;p1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5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8_15" id="381" name="Google Shape;38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511" y="3095625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s-AR"/>
              <a:t>Doble Paginación</a:t>
            </a:r>
            <a:endParaRPr/>
          </a:p>
        </p:txBody>
      </p:sp>
      <p:grpSp>
        <p:nvGrpSpPr>
          <p:cNvPr id="387" name="Google Shape;387;p16"/>
          <p:cNvGrpSpPr/>
          <p:nvPr/>
        </p:nvGrpSpPr>
        <p:grpSpPr>
          <a:xfrm>
            <a:off x="1484313" y="2706232"/>
            <a:ext cx="10018712" cy="3045735"/>
            <a:chOff x="0" y="39232"/>
            <a:chExt cx="10018712" cy="3045735"/>
          </a:xfrm>
        </p:grpSpPr>
        <p:sp>
          <p:nvSpPr>
            <p:cNvPr id="388" name="Google Shape;388;p16"/>
            <p:cNvSpPr/>
            <p:nvPr/>
          </p:nvSpPr>
          <p:spPr>
            <a:xfrm>
              <a:off x="0" y="39232"/>
              <a:ext cx="10018712" cy="791505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6"/>
            <p:cNvSpPr txBox="1"/>
            <p:nvPr/>
          </p:nvSpPr>
          <p:spPr>
            <a:xfrm>
              <a:off x="38638" y="77870"/>
              <a:ext cx="9941436" cy="7142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5725" lIns="125725" spcFirstLastPara="1" rIns="125725" wrap="square" tIns="12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Corbel"/>
                <a:buNone/>
              </a:pPr>
              <a:r>
                <a:rPr lang="es-AR" sz="33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Paginación en la sombra:</a:t>
              </a:r>
              <a:endParaRPr sz="33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0" name="Google Shape;390;p16"/>
            <p:cNvSpPr/>
            <p:nvPr/>
          </p:nvSpPr>
          <p:spPr>
            <a:xfrm>
              <a:off x="0" y="830737"/>
              <a:ext cx="10018712" cy="2254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6"/>
            <p:cNvSpPr txBox="1"/>
            <p:nvPr/>
          </p:nvSpPr>
          <p:spPr>
            <a:xfrm>
              <a:off x="0" y="830737"/>
              <a:ext cx="10018712" cy="2254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900" lIns="318075" spcFirstLastPara="1" rIns="234675" wrap="square" tIns="419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orbel"/>
                <a:buChar char="•"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Ventaja: menos accesos a disco</a:t>
              </a:r>
              <a:endParaRPr b="0" i="0" sz="2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52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orbel"/>
                <a:buChar char="•"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Desventaja: complicada en un ambiente concurrente/distribuido.</a:t>
              </a:r>
              <a:endParaRPr b="0" i="0" sz="2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52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orbel"/>
                <a:buChar char="•"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N páginas equivalente a páginas del SO.</a:t>
              </a:r>
              <a:endParaRPr b="0" i="0" sz="2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52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orbel"/>
                <a:buChar char="•"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Tabla de páginas actual</a:t>
              </a:r>
              <a:endParaRPr b="0" i="0" sz="2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52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orbel"/>
                <a:buChar char="•"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Tabla de páginas sombra</a:t>
              </a:r>
              <a:endParaRPr b="0" i="0" sz="2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392" name="Google Shape;392;p1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6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8_16" id="394" name="Google Shape;39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575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7"/>
          <p:cNvSpPr txBox="1"/>
          <p:nvPr>
            <p:ph type="title"/>
          </p:nvPr>
        </p:nvSpPr>
        <p:spPr>
          <a:xfrm>
            <a:off x="1877850" y="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s-AR"/>
              <a:t>Doble Paginación</a:t>
            </a:r>
            <a:endParaRPr/>
          </a:p>
        </p:txBody>
      </p:sp>
      <p:sp>
        <p:nvSpPr>
          <p:cNvPr id="400" name="Google Shape;400;p1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7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graphicFrame>
        <p:nvGraphicFramePr>
          <p:cNvPr id="402" name="Google Shape;402;p17"/>
          <p:cNvGraphicFramePr/>
          <p:nvPr/>
        </p:nvGraphicFramePr>
        <p:xfrm>
          <a:off x="3562045" y="1477334"/>
          <a:ext cx="7389811" cy="5095515"/>
        </p:xfrm>
        <a:graphic>
          <a:graphicData uri="http://schemas.openxmlformats.org/presentationml/2006/ole">
            <mc:AlternateContent>
              <mc:Choice Requires="v">
                <p:oleObj r:id="rId4" imgH="5095515" imgW="7389811" progId="Visio.Drawing.3" spid="_x0000_s1">
                  <p:embed/>
                </p:oleObj>
              </mc:Choice>
              <mc:Fallback>
                <p:oleObj r:id="rId5" imgH="5095515" imgW="7389811" progId="Visio.Drawing.3">
                  <p:embed/>
                  <p:pic>
                    <p:nvPicPr>
                      <p:cNvPr id="402" name="Google Shape;402;p1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562045" y="1477334"/>
                        <a:ext cx="7389811" cy="50955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descr="c8_17" id="403" name="Google Shape;40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10878" y="3033579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s-AR"/>
              <a:t>Doble Paginación</a:t>
            </a:r>
            <a:endParaRPr/>
          </a:p>
        </p:txBody>
      </p:sp>
      <p:grpSp>
        <p:nvGrpSpPr>
          <p:cNvPr id="409" name="Google Shape;409;p18"/>
          <p:cNvGrpSpPr/>
          <p:nvPr/>
        </p:nvGrpSpPr>
        <p:grpSpPr>
          <a:xfrm>
            <a:off x="1484313" y="2703667"/>
            <a:ext cx="10018712" cy="3050864"/>
            <a:chOff x="0" y="36667"/>
            <a:chExt cx="10018712" cy="3050864"/>
          </a:xfrm>
        </p:grpSpPr>
        <p:sp>
          <p:nvSpPr>
            <p:cNvPr id="410" name="Google Shape;410;p18"/>
            <p:cNvSpPr/>
            <p:nvPr/>
          </p:nvSpPr>
          <p:spPr>
            <a:xfrm>
              <a:off x="0" y="36667"/>
              <a:ext cx="10018712" cy="647595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8"/>
            <p:cNvSpPr txBox="1"/>
            <p:nvPr/>
          </p:nvSpPr>
          <p:spPr>
            <a:xfrm>
              <a:off x="31613" y="68280"/>
              <a:ext cx="9955486" cy="5843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Corbel"/>
                <a:buNone/>
              </a:pPr>
              <a:r>
                <a:rPr lang="es-AR" sz="27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Ejecución de la operación </a:t>
              </a:r>
              <a:r>
                <a:rPr i="1" lang="es-AR" sz="27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escribir</a:t>
              </a:r>
              <a:endParaRPr sz="27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2" name="Google Shape;412;p18"/>
            <p:cNvSpPr/>
            <p:nvPr/>
          </p:nvSpPr>
          <p:spPr>
            <a:xfrm>
              <a:off x="0" y="684262"/>
              <a:ext cx="10018712" cy="2403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8"/>
            <p:cNvSpPr txBox="1"/>
            <p:nvPr/>
          </p:nvSpPr>
          <p:spPr>
            <a:xfrm>
              <a:off x="0" y="684262"/>
              <a:ext cx="10018712" cy="2403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318075" spcFirstLastPara="1" rIns="192000" wrap="square" tIns="3427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Ejecutar </a:t>
              </a:r>
              <a:r>
                <a:rPr b="1" i="0" lang="es-AR" sz="21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entrada</a:t>
              </a:r>
              <a:r>
                <a:rPr b="0" i="0" lang="es-AR" sz="21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(X) si página i-ésima no está todavía en memoria principal.</a:t>
              </a:r>
              <a:endPara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Si es la primer escritura sobre la página i-ésima, modificar la tabla actual de páginas así:</a:t>
              </a:r>
              <a:endPara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Encontrar una página en el disco no utilizada</a:t>
              </a:r>
              <a:endPara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Indicar que a partir de ahora está ocupada</a:t>
              </a:r>
              <a:endPara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2" marL="4572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Modificar la tabla actual de página indicando que la i-ésima entrada ahora apunta a la nueva página</a:t>
              </a:r>
              <a:endPara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414" name="Google Shape;414;p1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8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9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s-AR"/>
              <a:t>Doble Paginación</a:t>
            </a:r>
            <a:endParaRPr/>
          </a:p>
        </p:txBody>
      </p:sp>
      <p:grpSp>
        <p:nvGrpSpPr>
          <p:cNvPr id="421" name="Google Shape;421;p19"/>
          <p:cNvGrpSpPr/>
          <p:nvPr/>
        </p:nvGrpSpPr>
        <p:grpSpPr>
          <a:xfrm>
            <a:off x="1484313" y="2682135"/>
            <a:ext cx="10018712" cy="3093930"/>
            <a:chOff x="0" y="15135"/>
            <a:chExt cx="10018712" cy="3093930"/>
          </a:xfrm>
        </p:grpSpPr>
        <p:sp>
          <p:nvSpPr>
            <p:cNvPr id="422" name="Google Shape;422;p19"/>
            <p:cNvSpPr/>
            <p:nvPr/>
          </p:nvSpPr>
          <p:spPr>
            <a:xfrm>
              <a:off x="0" y="15135"/>
              <a:ext cx="10018712" cy="1007370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9"/>
            <p:cNvSpPr txBox="1"/>
            <p:nvPr/>
          </p:nvSpPr>
          <p:spPr>
            <a:xfrm>
              <a:off x="49176" y="64311"/>
              <a:ext cx="9920360" cy="9090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0000" lIns="160000" spcFirstLastPara="1" rIns="160000" wrap="square" tIns="16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200"/>
                <a:buFont typeface="Corbel"/>
                <a:buNone/>
              </a:pPr>
              <a:r>
                <a:rPr lang="es-AR" sz="42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En caso de fallo y luego de la recuperación</a:t>
              </a:r>
              <a:endParaRPr sz="4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4" name="Google Shape;424;p19"/>
            <p:cNvSpPr/>
            <p:nvPr/>
          </p:nvSpPr>
          <p:spPr>
            <a:xfrm>
              <a:off x="0" y="1022505"/>
              <a:ext cx="10018712" cy="2086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9"/>
            <p:cNvSpPr txBox="1"/>
            <p:nvPr/>
          </p:nvSpPr>
          <p:spPr>
            <a:xfrm>
              <a:off x="0" y="1022505"/>
              <a:ext cx="10018712" cy="2086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325" lIns="318075" spcFirstLastPara="1" rIns="298700" wrap="square" tIns="53325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300"/>
                <a:buFont typeface="Corbel"/>
                <a:buChar char="•"/>
              </a:pPr>
              <a:r>
                <a:rPr b="0" i="0" lang="es-AR" sz="33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Copia la tabla de páginas sombra en memoria principal.</a:t>
              </a:r>
              <a:endParaRPr b="0" i="0" sz="33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660"/>
                </a:spcBef>
                <a:spcAft>
                  <a:spcPts val="0"/>
                </a:spcAft>
                <a:buClr>
                  <a:schemeClr val="dk1"/>
                </a:buClr>
                <a:buSzPts val="3300"/>
                <a:buFont typeface="Corbel"/>
                <a:buChar char="•"/>
              </a:pPr>
              <a:r>
                <a:rPr b="0" i="0" lang="es-AR" sz="33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Abort automáticos, se tienen la dirección de la página anterior sin las modificaciones. </a:t>
              </a:r>
              <a:endParaRPr b="0" i="0" sz="33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426" name="Google Shape;426;p1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9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0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s-AR"/>
              <a:t>Recuperación en caso de Fallo</a:t>
            </a:r>
            <a:endParaRPr/>
          </a:p>
        </p:txBody>
      </p:sp>
      <p:grpSp>
        <p:nvGrpSpPr>
          <p:cNvPr id="434" name="Google Shape;434;p20"/>
          <p:cNvGrpSpPr/>
          <p:nvPr/>
        </p:nvGrpSpPr>
        <p:grpSpPr>
          <a:xfrm>
            <a:off x="2356834" y="2059195"/>
            <a:ext cx="9147779" cy="3698459"/>
            <a:chOff x="0" y="154195"/>
            <a:chExt cx="9147779" cy="3698459"/>
          </a:xfrm>
        </p:grpSpPr>
        <p:sp>
          <p:nvSpPr>
            <p:cNvPr id="435" name="Google Shape;435;p20"/>
            <p:cNvSpPr/>
            <p:nvPr/>
          </p:nvSpPr>
          <p:spPr>
            <a:xfrm>
              <a:off x="0" y="154195"/>
              <a:ext cx="9147779" cy="647595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0"/>
            <p:cNvSpPr txBox="1"/>
            <p:nvPr/>
          </p:nvSpPr>
          <p:spPr>
            <a:xfrm>
              <a:off x="31613" y="185808"/>
              <a:ext cx="9084553" cy="5843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Corbel"/>
                <a:buNone/>
              </a:pPr>
              <a:r>
                <a:rPr lang="es-AR" sz="27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Ventajas:</a:t>
              </a:r>
              <a:endParaRPr sz="27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37" name="Google Shape;437;p20"/>
            <p:cNvSpPr/>
            <p:nvPr/>
          </p:nvSpPr>
          <p:spPr>
            <a:xfrm>
              <a:off x="0" y="801790"/>
              <a:ext cx="9147779" cy="726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0"/>
            <p:cNvSpPr txBox="1"/>
            <p:nvPr/>
          </p:nvSpPr>
          <p:spPr>
            <a:xfrm>
              <a:off x="0" y="801790"/>
              <a:ext cx="9147779" cy="726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290425" spcFirstLastPara="1" rIns="192000" wrap="square" tIns="3427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Elimina la sobrecarga de escrituras del log 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Recuperación más rápida (no existe el REDO o UNDO).</a:t>
              </a:r>
              <a:endParaRPr/>
            </a:p>
          </p:txBody>
        </p:sp>
        <p:sp>
          <p:nvSpPr>
            <p:cNvPr id="439" name="Google Shape;439;p20"/>
            <p:cNvSpPr/>
            <p:nvPr/>
          </p:nvSpPr>
          <p:spPr>
            <a:xfrm>
              <a:off x="0" y="1528360"/>
              <a:ext cx="9147779" cy="647595"/>
            </a:xfrm>
            <a:prstGeom prst="roundRect">
              <a:avLst>
                <a:gd fmla="val 16667" name="adj"/>
              </a:avLst>
            </a:prstGeom>
            <a:solidFill>
              <a:srgbClr val="BC191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0"/>
            <p:cNvSpPr txBox="1"/>
            <p:nvPr/>
          </p:nvSpPr>
          <p:spPr>
            <a:xfrm>
              <a:off x="31613" y="1559973"/>
              <a:ext cx="9084553" cy="5843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Corbel"/>
                <a:buNone/>
              </a:pPr>
              <a:r>
                <a:rPr lang="es-AR" sz="27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Desventajas:</a:t>
              </a:r>
              <a:endParaRPr/>
            </a:p>
          </p:txBody>
        </p:sp>
        <p:sp>
          <p:nvSpPr>
            <p:cNvPr id="441" name="Google Shape;441;p20"/>
            <p:cNvSpPr/>
            <p:nvPr/>
          </p:nvSpPr>
          <p:spPr>
            <a:xfrm>
              <a:off x="0" y="2175955"/>
              <a:ext cx="9147779" cy="16766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0"/>
            <p:cNvSpPr txBox="1"/>
            <p:nvPr/>
          </p:nvSpPr>
          <p:spPr>
            <a:xfrm>
              <a:off x="0" y="2175955"/>
              <a:ext cx="9147779" cy="16766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290425" spcFirstLastPara="1" rIns="192000" wrap="square" tIns="3427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Sobrecarga en el compromiso: la técnica de paginación es por cada transacción.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Fragmentación de datos: cambia la ubicación de los datos continuamente.</a:t>
              </a:r>
              <a:endPara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Garbage Collector: ante un fallo queda una página que no es mas referenciada.</a:t>
              </a:r>
              <a:endParaRPr/>
            </a:p>
          </p:txBody>
        </p:sp>
      </p:grpSp>
      <p:sp>
        <p:nvSpPr>
          <p:cNvPr id="443" name="Google Shape;443;p2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0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2014-08-28T15:33:23Z</dcterms:created>
  <dc:creator>Pampa</dc:creator>
</cp:coreProperties>
</file>