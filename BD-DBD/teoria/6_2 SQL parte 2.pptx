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i5sYqmAe4k9WuMZZq4iXxBfm/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enturyGothic-regular.fntdata"/><Relationship Id="rId21" Type="http://schemas.openxmlformats.org/officeDocument/2006/relationships/slide" Target="slides/slide16.xml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23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23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8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23" name="Google Shape;123;p28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28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9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9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40" name="Google Shape;140;p30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30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1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D7C7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7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7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7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7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7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7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7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7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7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17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7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7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7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17"/>
          <p:cNvGrpSpPr/>
          <p:nvPr/>
        </p:nvGrpSpPr>
        <p:grpSpPr>
          <a:xfrm>
            <a:off x="27222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17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7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7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7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7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7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7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7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17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17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17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17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17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/>
          <p:nvPr>
            <p:ph type="ctrTitle"/>
          </p:nvPr>
        </p:nvSpPr>
        <p:spPr>
          <a:xfrm>
            <a:off x="2589214" y="1664594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s-AR"/>
              <a:t>Diseño de Bases de Datos</a:t>
            </a:r>
            <a:endParaRPr/>
          </a:p>
        </p:txBody>
      </p:sp>
      <p:sp>
        <p:nvSpPr>
          <p:cNvPr id="170" name="Google Shape;170;p1"/>
          <p:cNvSpPr txBox="1"/>
          <p:nvPr>
            <p:ph idx="1" type="subTitle"/>
          </p:nvPr>
        </p:nvSpPr>
        <p:spPr>
          <a:xfrm>
            <a:off x="2472745" y="4777379"/>
            <a:ext cx="9031868" cy="1649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s-AR" sz="1665"/>
              <a:t>Clase 4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s-AR" sz="1665"/>
              <a:t>Curso 2015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s-AR" sz="1665"/>
              <a:t>Prof.  Luciano Marrero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s-AR" sz="1665"/>
              <a:t>	  Pablo Thomas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s-AR" sz="1665"/>
              <a:t>          Rodolfo Bertone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Agenda</a:t>
            </a:r>
            <a:endParaRPr/>
          </a:p>
        </p:txBody>
      </p:sp>
      <p:grpSp>
        <p:nvGrpSpPr>
          <p:cNvPr id="177" name="Google Shape;177;p2"/>
          <p:cNvGrpSpPr/>
          <p:nvPr/>
        </p:nvGrpSpPr>
        <p:grpSpPr>
          <a:xfrm>
            <a:off x="2589213" y="2133600"/>
            <a:ext cx="8915400" cy="3778250"/>
            <a:chOff x="0" y="0"/>
            <a:chExt cx="8915400" cy="3778250"/>
          </a:xfrm>
        </p:grpSpPr>
        <p:sp>
          <p:nvSpPr>
            <p:cNvPr id="178" name="Google Shape;178;p2"/>
            <p:cNvSpPr/>
            <p:nvPr/>
          </p:nvSpPr>
          <p:spPr>
            <a:xfrm rot="5400000">
              <a:off x="4551172" y="-963803"/>
              <a:ext cx="3022600" cy="570585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CC">
                <a:alpha val="89803"/>
              </a:srgbClr>
            </a:solidFill>
            <a:ln cap="rnd" cmpd="sng" w="15875">
              <a:solidFill>
                <a:srgbClr val="CFDE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"/>
            <p:cNvSpPr txBox="1"/>
            <p:nvPr/>
          </p:nvSpPr>
          <p:spPr>
            <a:xfrm>
              <a:off x="3209545" y="525375"/>
              <a:ext cx="5558305" cy="2727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412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500"/>
                <a:buFont typeface="Century Gothic"/>
                <a:buChar char="•"/>
              </a:pPr>
              <a:r>
                <a:rPr b="0" i="0" lang="es-AR" sz="6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Ejemplos</a:t>
              </a:r>
              <a:endParaRPr/>
            </a:p>
            <a:p>
              <a:pPr indent="0" lvl="1" marL="285750" marR="0" rtl="0" algn="l">
                <a:lnSpc>
                  <a:spcPct val="90000"/>
                </a:lnSpc>
                <a:spcBef>
                  <a:spcPts val="975"/>
                </a:spcBef>
                <a:spcAft>
                  <a:spcPts val="0"/>
                </a:spcAft>
                <a:buClr>
                  <a:schemeClr val="dk1"/>
                </a:buClr>
                <a:buSzPts val="6500"/>
                <a:buFont typeface="Century Gothic"/>
                <a:buNone/>
              </a:pPr>
              <a:r>
                <a:t/>
              </a:r>
              <a:endParaRPr b="0" i="0" sz="6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0" y="0"/>
              <a:ext cx="3209544" cy="377825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"/>
            <p:cNvSpPr txBox="1"/>
            <p:nvPr/>
          </p:nvSpPr>
          <p:spPr>
            <a:xfrm>
              <a:off x="156677" y="156677"/>
              <a:ext cx="2896190" cy="3464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entury Gothic"/>
                <a:buNone/>
              </a:pPr>
              <a:r>
                <a:rPr b="0" i="0" lang="es-AR" sz="3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Lenguaje de Consultas Estructurado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19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entury Gothic"/>
                <a:buNone/>
              </a:pPr>
              <a:r>
                <a:rPr b="0" i="0" lang="es-AR" sz="3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(SQL)</a:t>
              </a:r>
              <a:endParaRPr/>
            </a:p>
          </p:txBody>
        </p:sp>
      </p:grpSp>
      <p:sp>
        <p:nvSpPr>
          <p:cNvPr id="182" name="Google Shape;182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183" name="Google Shape;183;p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6_2" id="184" name="Google Shape;18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SQL 🡪 DML</a:t>
            </a:r>
            <a:endParaRPr/>
          </a:p>
        </p:txBody>
      </p:sp>
      <p:sp>
        <p:nvSpPr>
          <p:cNvPr id="190" name="Google Shape;190;p3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Ejercicios para resolver</a:t>
            </a:r>
            <a:endParaRPr/>
          </a:p>
        </p:txBody>
      </p:sp>
      <p:sp>
        <p:nvSpPr>
          <p:cNvPr id="191" name="Google Shape;191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192" name="Google Shape;192;p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2119745" y="2978727"/>
            <a:ext cx="8797637" cy="2446824"/>
          </a:xfrm>
          <a:prstGeom prst="rect">
            <a:avLst/>
          </a:prstGeom>
          <a:solidFill>
            <a:schemeClr val="accent6"/>
          </a:solidFill>
          <a:ln cap="rnd" cmpd="sng" w="22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Dadas las siguientes tablas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Cliente ( id_cliente, nombre_cliente, renta_anual, tipo_cliente)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Embarque ( embarque_#, id_cliente, peso, camión_#, destino, fecha)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Camión (camión_#, nombre_chofer)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Ciudad ( nombre_ciudad, población)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SQL 🡪 DML</a:t>
            </a:r>
            <a:endParaRPr/>
          </a:p>
        </p:txBody>
      </p:sp>
      <p:sp>
        <p:nvSpPr>
          <p:cNvPr id="199" name="Google Shape;199;p4"/>
          <p:cNvSpPr txBox="1"/>
          <p:nvPr>
            <p:ph idx="1" type="body"/>
          </p:nvPr>
        </p:nvSpPr>
        <p:spPr>
          <a:xfrm>
            <a:off x="2090448" y="1421418"/>
            <a:ext cx="9371012" cy="4901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Cuál es el nombre del cliente 433?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Cuál es la ciudad destino del embarque 3244?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Cuales son los números de los camiones que han llevado paquetes (embarques) por encima de 100 kg?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Presente todos los datos de los embarques de más de 20 kg?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Cree una lista por orden alfabético de los clientes con renta anual de más de 10 millones?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Cual es el Id del cliente José García?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Mostrar  los nombres de los clientes que han enviado embarques a las ciudades cuyo nombre empieza con C.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Mostrar los nombres de los clientes que han enviado embarques a las ciudades cuyo nombre termina con City.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Mostrar los nombres de los clientes que tienen una D como tercera letra del nombre.</a:t>
            </a:r>
            <a:endParaRPr sz="16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s-AR" sz="1600"/>
              <a:t>Mostrar los nombres de los clientes que sean minoristas</a:t>
            </a:r>
            <a:endParaRPr sz="1600"/>
          </a:p>
        </p:txBody>
      </p:sp>
      <p:sp>
        <p:nvSpPr>
          <p:cNvPr id="200" name="Google Shape;200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01" name="Google Shape;201;p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SQL 🡪 DML</a:t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2189018" y="1454727"/>
            <a:ext cx="9315594" cy="445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Cómo se llaman los clientes que han enviado paquetes a Bariloche?</a:t>
            </a:r>
            <a:endParaRPr sz="1530"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A cuales destinos han hecho envíos las compañías con renta anual menor que 1 millón?</a:t>
            </a:r>
            <a:endParaRPr sz="1530"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Cuales son los nombres y las poblaciones de las ciudades que han recibido embarques que pesen más de 100 kg?</a:t>
            </a:r>
            <a:endParaRPr sz="1530"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Cuales son los clientes que tienen más de 5 millones de renta anual y que han enviado embarques de menos de 1 kg?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Quienes son los clientes que tienen más de 5 millones de renta anual y que han enviado embarques de menos de 1kg. O han enviado embarques a Villa La Angostura?</a:t>
            </a:r>
            <a:endParaRPr sz="1530"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Quienes son los choferes que han conducido embarques de clientes que tienen renta anual mayor de 20 millones a ciudades con más de 1 millón de habitantes?</a:t>
            </a:r>
            <a:endParaRPr sz="1530"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Indique los choferes que han transportado embarques a cada una de las ciudades.</a:t>
            </a:r>
            <a:endParaRPr sz="1530"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Indique las ciudades que han recibido embarques de clientes que tienen más de 15 millones de renta anual.</a:t>
            </a:r>
            <a:endParaRPr sz="1530"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Indique el nombre y la renta anual de los clientes que han enviado embarques que pesan más de 100 kg.</a:t>
            </a:r>
            <a:endParaRPr sz="1530"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Font typeface="Century Gothic"/>
              <a:buAutoNum type="arabicPeriod" startAt="11"/>
            </a:pPr>
            <a:r>
              <a:rPr lang="es-AR" sz="1530"/>
              <a:t>Indique los clientes que han tenido embarques transportados en cada camión.</a:t>
            </a:r>
            <a:endParaRPr sz="153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530"/>
          </a:p>
        </p:txBody>
      </p:sp>
      <p:sp>
        <p:nvSpPr>
          <p:cNvPr id="208" name="Google Shape;208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09" name="Google Shape;209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SQL 🡪 DML</a:t>
            </a:r>
            <a:endParaRPr/>
          </a:p>
        </p:txBody>
      </p:sp>
      <p:sp>
        <p:nvSpPr>
          <p:cNvPr id="215" name="Google Shape;215;p6"/>
          <p:cNvSpPr txBox="1"/>
          <p:nvPr>
            <p:ph idx="1" type="body"/>
          </p:nvPr>
        </p:nvSpPr>
        <p:spPr>
          <a:xfrm>
            <a:off x="2589212" y="1905000"/>
            <a:ext cx="8915400" cy="4006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65"/>
              <a:buFont typeface="Century Gothic"/>
              <a:buAutoNum type="arabicPeriod" startAt="21"/>
            </a:pPr>
            <a:r>
              <a:rPr lang="es-AR" sz="1665"/>
              <a:t>Cual es el peso promedio de los embarques?</a:t>
            </a:r>
            <a:endParaRPr sz="1665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Font typeface="Century Gothic"/>
              <a:buAutoNum type="arabicPeriod" startAt="21"/>
            </a:pPr>
            <a:r>
              <a:rPr lang="es-AR" sz="1665"/>
              <a:t>Cual es el peso promedio de los embarques que van a Neuquén?</a:t>
            </a:r>
            <a:endParaRPr sz="1665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Font typeface="Century Gothic"/>
              <a:buAutoNum type="arabicPeriod" startAt="21"/>
            </a:pPr>
            <a:r>
              <a:rPr lang="es-AR" sz="1665"/>
              <a:t>Presente una lista de los clientes para los que todos sus embarques han pesado más de 25 kg.</a:t>
            </a:r>
            <a:endParaRPr sz="1665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Font typeface="Century Gothic"/>
              <a:buAutoNum type="arabicPeriod" startAt="21"/>
            </a:pPr>
            <a:r>
              <a:rPr lang="es-AR" sz="1665"/>
              <a:t>Cuales ciudades de la BD tienen la menor y la mayor población?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Font typeface="Century Gothic"/>
              <a:buAutoNum type="arabicPeriod" startAt="21"/>
            </a:pPr>
            <a:r>
              <a:rPr lang="es-AR" sz="1665"/>
              <a:t>Agregue el camión 95 con el chofer García a la BD</a:t>
            </a:r>
            <a:endParaRPr sz="1665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Font typeface="Century Gothic"/>
              <a:buAutoNum type="arabicPeriod" startAt="21"/>
            </a:pPr>
            <a:r>
              <a:rPr lang="es-AR" sz="1665"/>
              <a:t>Borre de la BD todas las ciudades con población de menos de 5000 habitantes. Debe sacar, además los embarques que haya en dicha ciudad.</a:t>
            </a:r>
            <a:endParaRPr sz="1665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Font typeface="Century Gothic"/>
              <a:buAutoNum type="arabicPeriod" startAt="21"/>
            </a:pPr>
            <a:r>
              <a:rPr lang="es-AR" sz="1665"/>
              <a:t>Borre de la BD todas las ciudades con población de menos de 5000 habitantes que no posean embarques enviados.</a:t>
            </a:r>
            <a:endParaRPr sz="1665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Font typeface="Century Gothic"/>
              <a:buAutoNum type="arabicPeriod" startAt="21"/>
            </a:pPr>
            <a:r>
              <a:rPr lang="es-AR" sz="1665"/>
              <a:t>Convierta el peso de cada envío a libras, para ello se sabe que una libra son 2.2 kg. (aproximadamente).</a:t>
            </a:r>
            <a:endParaRPr sz="1665"/>
          </a:p>
          <a:p>
            <a:pPr indent="-237172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Font typeface="Century Gothic"/>
              <a:buNone/>
            </a:pPr>
            <a:r>
              <a:t/>
            </a:r>
            <a:endParaRPr sz="1665"/>
          </a:p>
          <a:p>
            <a:pPr indent="-237172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</p:txBody>
      </p:sp>
      <p:sp>
        <p:nvSpPr>
          <p:cNvPr id="216" name="Google Shape;216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17" name="Google Shape;217;p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SQL 🡪 DML</a:t>
            </a:r>
            <a:endParaRPr/>
          </a:p>
        </p:txBody>
      </p:sp>
      <p:sp>
        <p:nvSpPr>
          <p:cNvPr id="223" name="Google Shape;223;p7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AutoNum type="arabicPeriod" startAt="29"/>
            </a:pPr>
            <a:r>
              <a:rPr lang="es-AR"/>
              <a:t>Indique las ciudades que han recibido embarques de todos los clientes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AutoNum type="arabicPeriod" startAt="29"/>
            </a:pPr>
            <a:r>
              <a:rPr lang="es-AR"/>
              <a:t>Cuantos embarques han sido enviados pro el cliente 433?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AutoNum type="arabicPeriod" startAt="29"/>
            </a:pPr>
            <a:r>
              <a:rPr lang="es-AR"/>
              <a:t>Para cada cliente ¿cuál es el peso medio de los paquetes enviados por él?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AutoNum type="arabicPeriod" startAt="29"/>
            </a:pPr>
            <a:r>
              <a:rPr lang="es-AR"/>
              <a:t>Para cada ciudad ¿cuál es el peso máximo de un paquete que haya sido enviado a dicha ciudad?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AutoNum type="arabicPeriod" startAt="29"/>
            </a:pPr>
            <a:r>
              <a:rPr lang="es-AR"/>
              <a:t>Para cada ciudad con población por encima de un millón de habitantes ¿cuál es el peso menor de un paquete enviado a dicha ciudad?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AutoNum type="arabicPeriod" startAt="29"/>
            </a:pPr>
            <a:r>
              <a:rPr lang="es-AR"/>
              <a:t>Para cada ciudad que haya recibido al menos diez paquetes, ¿cuál es el peso medio de los paquetes enviados a dicha ciudad?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25" name="Google Shape;225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231" name="Google Shape;231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32" name="Google Shape;232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1282463" y="1544651"/>
            <a:ext cx="4184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SELECT 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clientes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id_cliente = 433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7048767" y="3879201"/>
            <a:ext cx="4184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 SELECT id_cliente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clientes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nombre = “Jose Garcia”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1249434" y="2519065"/>
            <a:ext cx="4184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 SELECT camion_#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embarque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peso &gt; 100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7048767" y="2655536"/>
            <a:ext cx="4184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 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embarque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peso &gt; 20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1463978" y="4912143"/>
            <a:ext cx="92594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 SELECT c.nombre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destino LIKE “C%”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1282463" y="3607813"/>
            <a:ext cx="418407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 SELECT 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clientes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rentaanual&gt; 10000000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ORDER BY nombre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7081796" y="1537855"/>
            <a:ext cx="4184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 SELECT destino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embarque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embarque_# = 3244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245" name="Google Shape;245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46" name="Google Shape;246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1282462" y="1544651"/>
            <a:ext cx="980117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 SELECT c.nombre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e.destino LIKE “%City”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1249434" y="2519065"/>
            <a:ext cx="4184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 SELECT 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cliente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nombre LIKE “__D%” 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6758494" y="2643050"/>
            <a:ext cx="4184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 SELECT 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FROM clientes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tipo_cliente  = “minorista”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1463978" y="4912143"/>
            <a:ext cx="92594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 SELECT e. destino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rentaanual &gt; 1000000  AND tipo_cliente =“compañía”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1249434" y="3789470"/>
            <a:ext cx="90253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 SELECT c.nombre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WHERE e.destino = ”bariloche”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257" name="Google Shape;257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58" name="Google Shape;258;p1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1282462" y="1544651"/>
            <a:ext cx="980117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 SELECT  DISTINCT ( l.nombre_ciudad. l.poblacion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FROM localidades l INNER JOIN embarque e ON (e.destino= l.nombre_ciudad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WHERE e.peso &gt; 100</a:t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1463978" y="4912143"/>
            <a:ext cx="925944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 SELECT ca.nombre_chofer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       INNER JOIN camiones ca ON (ca.camion_# = e.camion_#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		     INNER JOIN localidades l ON (l.nombre_ciudad = e.destino)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rentaanual &gt; 20000000  AND l.poblacion &gt; 1000000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1183892" y="2665416"/>
            <a:ext cx="90253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 SELECT c.nombre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c.renta_anual &gt; 5000000 AND e.peso &lt; 1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1183891" y="3645990"/>
            <a:ext cx="90253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 SELECT c.nombre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( c.renta_anual &gt; 5000000 AND e.peso &lt; 1) OR e.destino =“VLA”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/>
          <p:nvPr>
            <p:ph type="title"/>
          </p:nvPr>
        </p:nvSpPr>
        <p:spPr>
          <a:xfrm>
            <a:off x="2589212" y="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268" name="Google Shape;268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69" name="Google Shape;269;p1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1373943" y="640445"/>
            <a:ext cx="980117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 SELECT  ca.nombre_chofer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camiones 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WHERE NOT EXIST  (SELECT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FROM localidades 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WHERE NOT EXIST ( 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             FROM embarques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             WHERE e.destino = l.nombre_localidad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		e.camion_# = ca.camion_#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1553328" y="2864847"/>
            <a:ext cx="92594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 SELECT e.destino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rentaanual &gt; 15000000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1466280" y="3788177"/>
            <a:ext cx="92594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 SELECT c.nombre_cliente, c.renta_anual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 INNER JOIN embarque e ON (c.id_cliente = e.id_cliente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e.peso &gt; 100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1466280" y="4910469"/>
            <a:ext cx="925944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 SELECT c.nombre_cliente, c.renta_anual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c.id_cliente IN  (SELECT e.id_cliente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   FROM embarques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   WHERE e.peso &gt; 100 )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 txBox="1"/>
          <p:nvPr>
            <p:ph type="title"/>
          </p:nvPr>
        </p:nvSpPr>
        <p:spPr>
          <a:xfrm>
            <a:off x="2589212" y="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279" name="Google Shape;279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80" name="Google Shape;280;p1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1373943" y="640445"/>
            <a:ext cx="980117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 SELECT  c.nombre_chofer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WHERE NOT EXIST  (SELECT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FROM camion 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WHERE NOT EXIST ( 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             FROM embarques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             WHERE e.id_cliente = c.idcliente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		e.camion_# = ca.camion_# )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1311579" y="3051304"/>
            <a:ext cx="3933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 SELECT  AVG( peso )e.destino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embarque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1466280" y="4132875"/>
            <a:ext cx="925944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 SELECT c.nombre_cliente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NOT EXIST  ( 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		          FROM embarques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 WHERE e.peso &lt; 25 AND e.id_cliente = c.id_Cliente </a:t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6792648" y="3269908"/>
            <a:ext cx="393307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 SELECT  AVG( peso )e.destino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embarque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WHERE destino = “NQN”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 txBox="1"/>
          <p:nvPr>
            <p:ph type="title"/>
          </p:nvPr>
        </p:nvSpPr>
        <p:spPr>
          <a:xfrm>
            <a:off x="2589212" y="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290" name="Google Shape;290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291" name="Google Shape;291;p1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1602525" y="1247797"/>
            <a:ext cx="7319802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 SELECT  nombre_ciudad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FROM localidades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where poblacion = (SELECT  MIN( poblacion)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FROM localidades 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SELECT  nombre_ciudad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FROM localidades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where poblacion = (SELECT  MAX( poblacion)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FROM localidades 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1602525" y="3763542"/>
            <a:ext cx="9259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  INSERT INTO camion ( “Garcia” ) </a:t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1602525" y="4387118"/>
            <a:ext cx="925944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lain" startAt="26"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DELETE FROM embarques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WHERE destino IN ( SELECT nombre_ciudad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  FROM localidades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  WHERE poblacion &lt; 5000 )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DELETE FROM localidades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WHERE poblacion &lt; 5000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"/>
          <p:cNvSpPr txBox="1"/>
          <p:nvPr>
            <p:ph type="title"/>
          </p:nvPr>
        </p:nvSpPr>
        <p:spPr>
          <a:xfrm>
            <a:off x="2589212" y="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300" name="Google Shape;300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301" name="Google Shape;301;p1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1602524" y="2770574"/>
            <a:ext cx="92594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 UPDATE embarques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SET peso =  peso / 2.2 </a:t>
            </a:r>
            <a:endParaRPr/>
          </a:p>
        </p:txBody>
      </p:sp>
      <p:sp>
        <p:nvSpPr>
          <p:cNvPr id="303" name="Google Shape;303;p14"/>
          <p:cNvSpPr txBox="1"/>
          <p:nvPr/>
        </p:nvSpPr>
        <p:spPr>
          <a:xfrm>
            <a:off x="1602524" y="1215315"/>
            <a:ext cx="971663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27 DELETE FROM localidades 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WHERE l. poblacion &lt; 5000  AND NOT EXIST ( 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	          FROM embarques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	          WHERE e.destino = l.nombre_ciudad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1602524" y="3827484"/>
            <a:ext cx="980117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29 SELECT  l.nombre_ciudad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localidades 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WHERE NOT EXIST  (SELECT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FROM clientes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         WHERE NOT EXIST ( SELECT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             FROM embarques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             WHERE e.destino = l.nombre_localidad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		e.id_cliente = c.id_cliente 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 txBox="1"/>
          <p:nvPr>
            <p:ph type="title"/>
          </p:nvPr>
        </p:nvSpPr>
        <p:spPr>
          <a:xfrm>
            <a:off x="2589212" y="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310" name="Google Shape;310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311" name="Google Shape;311;p1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1602524" y="2496205"/>
            <a:ext cx="92594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31 SELECT id_cliente, AVG (peso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embarques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GROUP BY id_cliente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1602524" y="1215315"/>
            <a:ext cx="97166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 SELECT COUNT (*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embarques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WHERE id_cliente = 433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1602524" y="3777095"/>
            <a:ext cx="925944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31 CREATE VIEW cte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SELECT id_cliente, AVG (peso ) AS promedio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embarques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GROUP BY id_cliente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SELECT  c.nombre, ct.promedio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clientes c INNER JOIN cte ct ON( ct.id_cliente = c.id_cliente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 txBox="1"/>
          <p:nvPr>
            <p:ph type="title"/>
          </p:nvPr>
        </p:nvSpPr>
        <p:spPr>
          <a:xfrm>
            <a:off x="2589212" y="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Soluciones</a:t>
            </a:r>
            <a:br>
              <a:rPr lang="es-AR"/>
            </a:br>
            <a:endParaRPr/>
          </a:p>
        </p:txBody>
      </p:sp>
      <p:sp>
        <p:nvSpPr>
          <p:cNvPr id="320" name="Google Shape;320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6_2</a:t>
            </a:r>
            <a:endParaRPr/>
          </a:p>
        </p:txBody>
      </p:sp>
      <p:sp>
        <p:nvSpPr>
          <p:cNvPr id="321" name="Google Shape;321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1602523" y="2496205"/>
            <a:ext cx="98983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33 SELECT  e.destino, MIN (e.peso)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embarques e INNER JOIN localidades l ON (l.nombre_ciudad = e.destino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WHERE l.poblacion &gt; 1000000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GROUP BY destino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p16"/>
          <p:cNvSpPr txBox="1"/>
          <p:nvPr/>
        </p:nvSpPr>
        <p:spPr>
          <a:xfrm>
            <a:off x="1602524" y="1215315"/>
            <a:ext cx="97166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32 SELECT  destino, MAX (peso)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embarques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GROUP BY destino</a:t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1602524" y="3777095"/>
            <a:ext cx="925944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34 SELECT  destino, AVG (peso)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FROM embarques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GROUP BY destino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HAVING COUNT( * ) &gt;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piral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2014-08-28T15:33:23Z</dcterms:created>
  <dc:creator>Pampa</dc:creator>
</cp:coreProperties>
</file>